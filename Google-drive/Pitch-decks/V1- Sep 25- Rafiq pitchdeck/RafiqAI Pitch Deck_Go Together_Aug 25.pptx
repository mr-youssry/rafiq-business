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Roboto"/>
      <p:regular r:id="rId25"/>
      <p:bold r:id="rId26"/>
      <p:italic r:id="rId27"/>
      <p:boldItalic r:id="rId28"/>
    </p:embeddedFont>
    <p:embeddedFont>
      <p:font typeface="Gothic A1"/>
      <p:regular r:id="rId29"/>
      <p:bold r:id="rId30"/>
    </p:embeddedFont>
    <p:embeddedFont>
      <p:font typeface="Helvetica Neue"/>
      <p:regular r:id="rId31"/>
      <p:bold r:id="rId32"/>
      <p:italic r:id="rId33"/>
      <p:boldItalic r:id="rId34"/>
    </p:embeddedFont>
    <p:embeddedFont>
      <p:font typeface="Lexend"/>
      <p:regular r:id="rId35"/>
      <p:bold r:id="rId36"/>
    </p:embeddedFont>
    <p:embeddedFont>
      <p:font typeface="Playfair Display Black"/>
      <p:bold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308">
          <p15:clr>
            <a:srgbClr val="9AA0A6"/>
          </p15:clr>
        </p15:guide>
      </p15:sldGuideLst>
    </p:ext>
    <p:ext uri="GoogleSlidesCustomDataVersion2">
      <go:slidesCustomData xmlns:go="http://customooxmlschemas.google.com/" r:id="rId39" roundtripDataSignature="AMtx7miXLc++tA7RD9pX7M1SVBBipWKStQ=="/>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Shereen Aly"/>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30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GothicA1-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elveticaNeue-regular.fntdata"/><Relationship Id="rId30" Type="http://schemas.openxmlformats.org/officeDocument/2006/relationships/font" Target="fonts/GothicA1-bold.fntdata"/><Relationship Id="rId11" Type="http://schemas.openxmlformats.org/officeDocument/2006/relationships/slide" Target="slides/slide5.xml"/><Relationship Id="rId33" Type="http://schemas.openxmlformats.org/officeDocument/2006/relationships/font" Target="fonts/HelveticaNeue-italic.fntdata"/><Relationship Id="rId10" Type="http://schemas.openxmlformats.org/officeDocument/2006/relationships/slide" Target="slides/slide4.xml"/><Relationship Id="rId32" Type="http://schemas.openxmlformats.org/officeDocument/2006/relationships/font" Target="fonts/HelveticaNeue-bold.fntdata"/><Relationship Id="rId13" Type="http://schemas.openxmlformats.org/officeDocument/2006/relationships/slide" Target="slides/slide7.xml"/><Relationship Id="rId35" Type="http://schemas.openxmlformats.org/officeDocument/2006/relationships/font" Target="fonts/Lexend-regular.fntdata"/><Relationship Id="rId12" Type="http://schemas.openxmlformats.org/officeDocument/2006/relationships/slide" Target="slides/slide6.xml"/><Relationship Id="rId34" Type="http://schemas.openxmlformats.org/officeDocument/2006/relationships/font" Target="fonts/HelveticaNeue-boldItalic.fntdata"/><Relationship Id="rId15" Type="http://schemas.openxmlformats.org/officeDocument/2006/relationships/slide" Target="slides/slide9.xml"/><Relationship Id="rId37" Type="http://schemas.openxmlformats.org/officeDocument/2006/relationships/font" Target="fonts/PlayfairDisplayBlack-bold.fntdata"/><Relationship Id="rId14" Type="http://schemas.openxmlformats.org/officeDocument/2006/relationships/slide" Target="slides/slide8.xml"/><Relationship Id="rId36" Type="http://schemas.openxmlformats.org/officeDocument/2006/relationships/font" Target="fonts/Lexend-bold.fntdata"/><Relationship Id="rId17" Type="http://schemas.openxmlformats.org/officeDocument/2006/relationships/slide" Target="slides/slide11.xml"/><Relationship Id="rId39" Type="http://customschemas.google.com/relationships/presentationmetadata" Target="metadata"/><Relationship Id="rId16" Type="http://schemas.openxmlformats.org/officeDocument/2006/relationships/slide" Target="slides/slide10.xml"/><Relationship Id="rId38" Type="http://schemas.openxmlformats.org/officeDocument/2006/relationships/font" Target="fonts/PlayfairDisplayBlack-boldItalic.fntdata"/><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9-01T15:56:06.428">
    <p:pos x="308" y="1000"/>
    <p:text>where do you think we should put these phases? in the beginning? or here? because everything in the  slides is about North Africa &amp; Arab region. We want to clarify that we have the intention to expand further and we will add it also as a question in The Ask slide. Its up to you to decide where and how to represent this :)</p:text>
    <p:extLst>
      <p:ext uri="{C676402C-5697-4E1C-873F-D02D1690AC5C}">
        <p15:threadingInfo timeZoneBias="0"/>
      </p:ext>
      <p:ext uri="http://customooxmlschemas.google.com/">
        <go:slidesCustomData xmlns:go="http://customooxmlschemas.google.com/" commentPostId="AAABqcJ4wmg"/>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7a0610d726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37a0610d726_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7a0610d726_3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g37a0610d726_3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7a0610d726_3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37a0610d726_3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7a0610d726_3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g37a0610d726_3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7a0610d726_3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g37a0610d726_3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7a0610d726_3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37a0610d726_3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7a0610d726_3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g37a0610d726_3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7a0610d726_3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37a0610d726_3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Purple Cover 1">
  <p:cSld name="TITLE_2">
    <p:bg>
      <p:bgPr>
        <a:solidFill>
          <a:schemeClr val="accent1"/>
        </a:solidFill>
      </p:bgPr>
    </p:bg>
    <p:spTree>
      <p:nvGrpSpPr>
        <p:cNvPr id="9" name="Shape 9"/>
        <p:cNvGrpSpPr/>
        <p:nvPr/>
      </p:nvGrpSpPr>
      <p:grpSpPr>
        <a:xfrm>
          <a:off x="0" y="0"/>
          <a:ext cx="0" cy="0"/>
          <a:chOff x="0" y="0"/>
          <a:chExt cx="0" cy="0"/>
        </a:xfrm>
      </p:grpSpPr>
      <p:sp>
        <p:nvSpPr>
          <p:cNvPr id="10" name="Google Shape;10;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1" name="Google Shape;11;p16"/>
          <p:cNvSpPr txBox="1"/>
          <p:nvPr>
            <p:ph type="title"/>
          </p:nvPr>
        </p:nvSpPr>
        <p:spPr>
          <a:xfrm>
            <a:off x="457200" y="2831925"/>
            <a:ext cx="7329000" cy="13998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SzPts val="2800"/>
              <a:buNone/>
              <a:defRPr sz="4200">
                <a:solidFill>
                  <a:schemeClr val="lt1"/>
                </a:solidFill>
                <a:latin typeface="Playfair Display Black"/>
                <a:ea typeface="Playfair Display Black"/>
                <a:cs typeface="Playfair Display Black"/>
                <a:sym typeface="Playfair Display Black"/>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 name="Google Shape;12;p16"/>
          <p:cNvSpPr txBox="1"/>
          <p:nvPr>
            <p:ph idx="1" type="subTitle"/>
          </p:nvPr>
        </p:nvSpPr>
        <p:spPr>
          <a:xfrm>
            <a:off x="457200" y="4269626"/>
            <a:ext cx="7583400" cy="393600"/>
          </a:xfrm>
          <a:prstGeom prst="rect">
            <a:avLst/>
          </a:prstGeom>
          <a:noFill/>
          <a:ln>
            <a:noFill/>
          </a:ln>
        </p:spPr>
        <p:txBody>
          <a:bodyPr anchorCtr="0" anchor="t" bIns="0" lIns="0" spcFirstLastPara="1" rIns="0" wrap="square" tIns="0">
            <a:normAutofit/>
          </a:bodyPr>
          <a:lstStyle>
            <a:lvl1pPr lvl="0" algn="l">
              <a:lnSpc>
                <a:spcPct val="115000"/>
              </a:lnSpc>
              <a:spcBef>
                <a:spcPts val="0"/>
              </a:spcBef>
              <a:spcAft>
                <a:spcPts val="0"/>
              </a:spcAft>
              <a:buSzPts val="1800"/>
              <a:buNone/>
              <a:defRPr sz="1200">
                <a:solidFill>
                  <a:schemeClr val="lt1"/>
                </a:solidFill>
                <a:latin typeface="Gothic A1"/>
                <a:ea typeface="Gothic A1"/>
                <a:cs typeface="Gothic A1"/>
                <a:sym typeface="Gothic A1"/>
              </a:defRPr>
            </a:lvl1pPr>
            <a:lvl2pPr lvl="1" algn="l">
              <a:lnSpc>
                <a:spcPct val="115000"/>
              </a:lnSpc>
              <a:spcBef>
                <a:spcPts val="1200"/>
              </a:spcBef>
              <a:spcAft>
                <a:spcPts val="0"/>
              </a:spcAft>
              <a:buSzPts val="1400"/>
              <a:buNone/>
              <a:defRPr/>
            </a:lvl2pPr>
            <a:lvl3pPr lvl="2" algn="l">
              <a:lnSpc>
                <a:spcPct val="115000"/>
              </a:lnSpc>
              <a:spcBef>
                <a:spcPts val="1200"/>
              </a:spcBef>
              <a:spcAft>
                <a:spcPts val="0"/>
              </a:spcAft>
              <a:buSzPts val="1400"/>
              <a:buNone/>
              <a:defRPr/>
            </a:lvl3pPr>
            <a:lvl4pPr lvl="3" algn="l">
              <a:lnSpc>
                <a:spcPct val="115000"/>
              </a:lnSpc>
              <a:spcBef>
                <a:spcPts val="1200"/>
              </a:spcBef>
              <a:spcAft>
                <a:spcPts val="0"/>
              </a:spcAft>
              <a:buSzPts val="1400"/>
              <a:buNone/>
              <a:defRPr/>
            </a:lvl4pPr>
            <a:lvl5pPr lvl="4" algn="l">
              <a:lnSpc>
                <a:spcPct val="115000"/>
              </a:lnSpc>
              <a:spcBef>
                <a:spcPts val="1200"/>
              </a:spcBef>
              <a:spcAft>
                <a:spcPts val="0"/>
              </a:spcAft>
              <a:buSzPts val="1400"/>
              <a:buNone/>
              <a:defRPr/>
            </a:lvl5pPr>
            <a:lvl6pPr lvl="5" algn="l">
              <a:lnSpc>
                <a:spcPct val="115000"/>
              </a:lnSpc>
              <a:spcBef>
                <a:spcPts val="1200"/>
              </a:spcBef>
              <a:spcAft>
                <a:spcPts val="0"/>
              </a:spcAft>
              <a:buSzPts val="1400"/>
              <a:buNone/>
              <a:defRPr/>
            </a:lvl6pPr>
            <a:lvl7pPr lvl="6" algn="l">
              <a:lnSpc>
                <a:spcPct val="115000"/>
              </a:lnSpc>
              <a:spcBef>
                <a:spcPts val="1200"/>
              </a:spcBef>
              <a:spcAft>
                <a:spcPts val="0"/>
              </a:spcAft>
              <a:buSzPts val="1400"/>
              <a:buNone/>
              <a:defRPr/>
            </a:lvl7pPr>
            <a:lvl8pPr lvl="7" algn="l">
              <a:lnSpc>
                <a:spcPct val="115000"/>
              </a:lnSpc>
              <a:spcBef>
                <a:spcPts val="1200"/>
              </a:spcBef>
              <a:spcAft>
                <a:spcPts val="0"/>
              </a:spcAft>
              <a:buSzPts val="1400"/>
              <a:buNone/>
              <a:defRPr/>
            </a:lvl8pPr>
            <a:lvl9pPr lvl="8" algn="l">
              <a:lnSpc>
                <a:spcPct val="115000"/>
              </a:lnSpc>
              <a:spcBef>
                <a:spcPts val="1200"/>
              </a:spcBef>
              <a:spcAft>
                <a:spcPts val="1200"/>
              </a:spcAft>
              <a:buSzPts val="1400"/>
              <a:buNone/>
              <a:defRPr/>
            </a:lvl9pPr>
          </a:lstStyle>
          <a:p/>
        </p:txBody>
      </p:sp>
    </p:spTree>
  </p:cSld>
  <p:clrMapOvr>
    <a:masterClrMapping/>
  </p:clrMapOvr>
  <p:extLst>
    <p:ext uri="{DCECCB84-F9BA-43D5-87BE-67443E8EF086}">
      <p15:sldGuideLst>
        <p15:guide id="1" pos="288">
          <p15:clr>
            <a:srgbClr val="FA7B17"/>
          </p15:clr>
        </p15:guide>
        <p15:guide id="2" pos="1152">
          <p15:clr>
            <a:srgbClr val="FA7B17"/>
          </p15:clr>
        </p15:guide>
        <p15:guide id="3" orient="horz" pos="1476">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1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1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2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3" name="Google Shape;2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2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2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2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2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2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2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2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2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2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7" name="Google Shape;4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2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2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1" name="Google Shape;51;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Purple Cover">
  <p:cSld name="TITLE_1">
    <p:bg>
      <p:bgPr>
        <a:solidFill>
          <a:schemeClr val="accent1"/>
        </a:solidFill>
      </p:bgPr>
    </p:bg>
    <p:spTree>
      <p:nvGrpSpPr>
        <p:cNvPr id="54" name="Shape 54"/>
        <p:cNvGrpSpPr/>
        <p:nvPr/>
      </p:nvGrpSpPr>
      <p:grpSpPr>
        <a:xfrm>
          <a:off x="0" y="0"/>
          <a:ext cx="0" cy="0"/>
          <a:chOff x="0" y="0"/>
          <a:chExt cx="0" cy="0"/>
        </a:xfrm>
      </p:grpSpPr>
      <p:sp>
        <p:nvSpPr>
          <p:cNvPr id="55" name="Google Shape;55;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30"/>
          <p:cNvSpPr txBox="1"/>
          <p:nvPr>
            <p:ph type="title"/>
          </p:nvPr>
        </p:nvSpPr>
        <p:spPr>
          <a:xfrm>
            <a:off x="457200" y="2831925"/>
            <a:ext cx="7329000" cy="13998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SzPts val="2800"/>
              <a:buNone/>
              <a:defRPr sz="4200">
                <a:solidFill>
                  <a:schemeClr val="lt1"/>
                </a:solidFill>
                <a:latin typeface="Playfair Display Black"/>
                <a:ea typeface="Playfair Display Black"/>
                <a:cs typeface="Playfair Display Black"/>
                <a:sym typeface="Playfair Display Black"/>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p30"/>
          <p:cNvSpPr txBox="1"/>
          <p:nvPr>
            <p:ph idx="1" type="subTitle"/>
          </p:nvPr>
        </p:nvSpPr>
        <p:spPr>
          <a:xfrm>
            <a:off x="457200" y="4269626"/>
            <a:ext cx="7583400" cy="393600"/>
          </a:xfrm>
          <a:prstGeom prst="rect">
            <a:avLst/>
          </a:prstGeom>
          <a:noFill/>
          <a:ln>
            <a:noFill/>
          </a:ln>
        </p:spPr>
        <p:txBody>
          <a:bodyPr anchorCtr="0" anchor="t" bIns="0" lIns="0" spcFirstLastPara="1" rIns="0" wrap="square" tIns="0">
            <a:normAutofit/>
          </a:bodyPr>
          <a:lstStyle>
            <a:lvl1pPr lvl="0" algn="l">
              <a:lnSpc>
                <a:spcPct val="115000"/>
              </a:lnSpc>
              <a:spcBef>
                <a:spcPts val="0"/>
              </a:spcBef>
              <a:spcAft>
                <a:spcPts val="0"/>
              </a:spcAft>
              <a:buSzPts val="1800"/>
              <a:buNone/>
              <a:defRPr sz="1200">
                <a:solidFill>
                  <a:schemeClr val="lt1"/>
                </a:solidFill>
                <a:latin typeface="Gothic A1"/>
                <a:ea typeface="Gothic A1"/>
                <a:cs typeface="Gothic A1"/>
                <a:sym typeface="Gothic A1"/>
              </a:defRPr>
            </a:lvl1pPr>
            <a:lvl2pPr lvl="1" algn="l">
              <a:lnSpc>
                <a:spcPct val="115000"/>
              </a:lnSpc>
              <a:spcBef>
                <a:spcPts val="1200"/>
              </a:spcBef>
              <a:spcAft>
                <a:spcPts val="0"/>
              </a:spcAft>
              <a:buSzPts val="1400"/>
              <a:buNone/>
              <a:defRPr/>
            </a:lvl2pPr>
            <a:lvl3pPr lvl="2" algn="l">
              <a:lnSpc>
                <a:spcPct val="115000"/>
              </a:lnSpc>
              <a:spcBef>
                <a:spcPts val="1200"/>
              </a:spcBef>
              <a:spcAft>
                <a:spcPts val="0"/>
              </a:spcAft>
              <a:buSzPts val="1400"/>
              <a:buNone/>
              <a:defRPr/>
            </a:lvl3pPr>
            <a:lvl4pPr lvl="3" algn="l">
              <a:lnSpc>
                <a:spcPct val="115000"/>
              </a:lnSpc>
              <a:spcBef>
                <a:spcPts val="1200"/>
              </a:spcBef>
              <a:spcAft>
                <a:spcPts val="0"/>
              </a:spcAft>
              <a:buSzPts val="1400"/>
              <a:buNone/>
              <a:defRPr/>
            </a:lvl4pPr>
            <a:lvl5pPr lvl="4" algn="l">
              <a:lnSpc>
                <a:spcPct val="115000"/>
              </a:lnSpc>
              <a:spcBef>
                <a:spcPts val="1200"/>
              </a:spcBef>
              <a:spcAft>
                <a:spcPts val="0"/>
              </a:spcAft>
              <a:buSzPts val="1400"/>
              <a:buNone/>
              <a:defRPr/>
            </a:lvl5pPr>
            <a:lvl6pPr lvl="5" algn="l">
              <a:lnSpc>
                <a:spcPct val="115000"/>
              </a:lnSpc>
              <a:spcBef>
                <a:spcPts val="1200"/>
              </a:spcBef>
              <a:spcAft>
                <a:spcPts val="0"/>
              </a:spcAft>
              <a:buSzPts val="1400"/>
              <a:buNone/>
              <a:defRPr/>
            </a:lvl6pPr>
            <a:lvl7pPr lvl="6" algn="l">
              <a:lnSpc>
                <a:spcPct val="115000"/>
              </a:lnSpc>
              <a:spcBef>
                <a:spcPts val="1200"/>
              </a:spcBef>
              <a:spcAft>
                <a:spcPts val="0"/>
              </a:spcAft>
              <a:buSzPts val="1400"/>
              <a:buNone/>
              <a:defRPr/>
            </a:lvl7pPr>
            <a:lvl8pPr lvl="7" algn="l">
              <a:lnSpc>
                <a:spcPct val="115000"/>
              </a:lnSpc>
              <a:spcBef>
                <a:spcPts val="1200"/>
              </a:spcBef>
              <a:spcAft>
                <a:spcPts val="0"/>
              </a:spcAft>
              <a:buSzPts val="1400"/>
              <a:buNone/>
              <a:defRPr/>
            </a:lvl8pPr>
            <a:lvl9pPr lvl="8" algn="l">
              <a:lnSpc>
                <a:spcPct val="115000"/>
              </a:lnSpc>
              <a:spcBef>
                <a:spcPts val="1200"/>
              </a:spcBef>
              <a:spcAft>
                <a:spcPts val="1200"/>
              </a:spcAft>
              <a:buSzPts val="1400"/>
              <a:buNone/>
              <a:defRPr/>
            </a:lvl9pPr>
          </a:lstStyle>
          <a:p/>
        </p:txBody>
      </p:sp>
    </p:spTree>
  </p:cSld>
  <p:clrMapOvr>
    <a:masterClrMapping/>
  </p:clrMapOvr>
  <p:extLst>
    <p:ext uri="{DCECCB84-F9BA-43D5-87BE-67443E8EF086}">
      <p15:sldGuideLst>
        <p15:guide id="1" pos="288">
          <p15:clr>
            <a:srgbClr val="FA7B17"/>
          </p15:clr>
        </p15:guide>
        <p15:guide id="2" pos="1152">
          <p15:clr>
            <a:srgbClr val="FA7B17"/>
          </p15:clr>
        </p15:guide>
        <p15:guide id="3" orient="horz" pos="1476">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dropbox.com/work/DocSend/Marketing/Branding/_Brand%20Assets/Fonts" TargetMode="Externa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dropbox.com/work/DocSend/Marketing/Branding/_Brand%20Assets/Font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dropbox.com/work/DocSend/Marketing/Branding/_Brand%20Assets/Font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dropbox.com/work/DocSend/Marketing/Branding/_Brand%20Assets/Font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dropbox.com/work/DocSend/Marketing/Branding/_Brand%20Assets/Font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dropbox.com/work/DocSend/Marketing/Branding/_Brand%20Assets/Font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www.dropbox.com/work/DocSend/Marketing/Branding/_Brand%20Assets/Fonts" TargetMode="External"/><Relationship Id="rId4" Type="http://schemas.openxmlformats.org/officeDocument/2006/relationships/hyperlink" Target="https://www.marketreportanalytics.com/reports/professional-development-market-6145#" TargetMode="External"/><Relationship Id="rId5" Type="http://schemas.openxmlformats.org/officeDocument/2006/relationships/hyperlink" Target="https://digitaldefynd.com/IQ/mena-executive-education-statistic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www.dropbox.com/work/DocSend/Marketing/Branding/_Brand%20Assets/Fonts" TargetMode="External"/><Relationship Id="rId4" Type="http://schemas.openxmlformats.org/officeDocument/2006/relationships/hyperlink" Target="https://teachertaskforce.org/sites/default/files/2022-08/2021_Zaalouk_UNESCO_TPD-Arab-States-during-COVID-19-pandemic_EN.pd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www.dropbox.com/work/DocSend/Marketing/Branding/_Brand%20Assets/Font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www.dropbox.com/work/DocSend/Marketing/Branding/_Brand%20Assets/Font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www.dropbox.com/work/DocSend/Marketing/Branding/_Brand%20Assets/Fonts" TargetMode="External"/><Relationship Id="rId4" Type="http://schemas.openxmlformats.org/officeDocument/2006/relationships/hyperlink" Target="https://drive.usercontent.google.com/download?id=18YiYjmjjRvvRGqJP6He6lrSnLDW59BQ3&amp;authuser=0&amp;acrobatPromotionSource=GoogleDriveGridView"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www.dropbox.com/work/DocSend/Marketing/Branding/_Brand%20Assets/Font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www.dropbox.com/work/DocSend/Marketing/Branding/_Brand%20Assets/Font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www.dropbox.com/work/DocSend/Marketing/Branding/_Brand%20Assets/Font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www.dropbox.com/work/DocSend/Marketing/Branding/_Brand%20Assets/Font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www.dropbox.com/work/DocSend/Marketing/Branding/_Brand%20Assets/Fonts" TargetMode="External"/><Relationship Id="rId4" Type="http://schemas.openxmlformats.org/officeDocument/2006/relationships/hyperlink" Target="https://lumivero.com/products/experiential-learning-cloud/" TargetMode="External"/><Relationship Id="rId5" Type="http://schemas.openxmlformats.org/officeDocument/2006/relationships/hyperlink" Target="https://tevera.com/elevate-field-experience/#" TargetMode="External"/><Relationship Id="rId6" Type="http://schemas.openxmlformats.org/officeDocument/2006/relationships/hyperlink" Target="https://schoolmint.com/schoolmintgrow/#" TargetMode="External"/><Relationship Id="rId7" Type="http://schemas.openxmlformats.org/officeDocument/2006/relationships/hyperlink" Target="https://www.edthena.com/ai-coach-for-teacher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comments" Target="../comments/comment1.xml"/><Relationship Id="rId4" Type="http://schemas.openxmlformats.org/officeDocument/2006/relationships/hyperlink" Target="https://www.dropbox.com/work/DocSend/Marketing/Branding/_Brand%20Assets/Font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C8EB"/>
        </a:solidFill>
      </p:bgPr>
    </p:bg>
    <p:spTree>
      <p:nvGrpSpPr>
        <p:cNvPr id="61" name="Shape 61"/>
        <p:cNvGrpSpPr/>
        <p:nvPr/>
      </p:nvGrpSpPr>
      <p:grpSpPr>
        <a:xfrm>
          <a:off x="0" y="0"/>
          <a:ext cx="0" cy="0"/>
          <a:chOff x="0" y="0"/>
          <a:chExt cx="0" cy="0"/>
        </a:xfrm>
      </p:grpSpPr>
      <p:sp>
        <p:nvSpPr>
          <p:cNvPr id="62" name="Google Shape;62;p1"/>
          <p:cNvSpPr txBox="1"/>
          <p:nvPr>
            <p:ph type="title"/>
          </p:nvPr>
        </p:nvSpPr>
        <p:spPr>
          <a:xfrm>
            <a:off x="457200" y="2831925"/>
            <a:ext cx="7919700" cy="7020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SzPts val="2800"/>
              <a:buNone/>
            </a:pPr>
            <a:r>
              <a:rPr lang="en">
                <a:latin typeface="Helvetica Neue"/>
                <a:ea typeface="Helvetica Neue"/>
                <a:cs typeface="Helvetica Neue"/>
                <a:sym typeface="Helvetica Neue"/>
              </a:rPr>
              <a:t>RafiqAI </a:t>
            </a:r>
            <a:r>
              <a:rPr lang="en">
                <a:latin typeface="Helvetica Neue"/>
                <a:ea typeface="Helvetica Neue"/>
                <a:cs typeface="Helvetica Neue"/>
                <a:sym typeface="Helvetica Neue"/>
              </a:rPr>
              <a:t>Preseed pitch deck</a:t>
            </a:r>
            <a:endParaRPr>
              <a:latin typeface="Helvetica Neue"/>
              <a:ea typeface="Helvetica Neue"/>
              <a:cs typeface="Helvetica Neue"/>
              <a:sym typeface="Helvetica Neue"/>
            </a:endParaRPr>
          </a:p>
        </p:txBody>
      </p:sp>
      <p:sp>
        <p:nvSpPr>
          <p:cNvPr id="63" name="Google Shape;63;p1"/>
          <p:cNvSpPr txBox="1"/>
          <p:nvPr>
            <p:ph idx="1" type="subTitle"/>
          </p:nvPr>
        </p:nvSpPr>
        <p:spPr>
          <a:xfrm>
            <a:off x="457200" y="3533926"/>
            <a:ext cx="7583400" cy="39360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1200"/>
              </a:spcAft>
              <a:buSzPts val="1800"/>
              <a:buNone/>
            </a:pPr>
            <a:r>
              <a:rPr lang="en"/>
              <a:t>August 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3">
            <a:hlinkClick r:id="rId3"/>
          </p:cNvPr>
          <p:cNvSpPr txBox="1"/>
          <p:nvPr/>
        </p:nvSpPr>
        <p:spPr>
          <a:xfrm>
            <a:off x="447575" y="476250"/>
            <a:ext cx="7818000" cy="49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400"/>
              <a:buFont typeface="Arial"/>
              <a:buNone/>
            </a:pPr>
            <a:r>
              <a:rPr lang="en" sz="1800">
                <a:solidFill>
                  <a:srgbClr val="666666"/>
                </a:solidFill>
                <a:latin typeface="Helvetica Neue"/>
                <a:ea typeface="Helvetica Neue"/>
                <a:cs typeface="Helvetica Neue"/>
                <a:sym typeface="Helvetica Neue"/>
              </a:rPr>
              <a:t>We envision improving education quality where teachers growth is contextually thought </a:t>
            </a:r>
            <a:r>
              <a:rPr lang="en" sz="1800">
                <a:solidFill>
                  <a:srgbClr val="666666"/>
                </a:solidFill>
                <a:latin typeface="Helvetica Neue"/>
                <a:ea typeface="Helvetica Neue"/>
                <a:cs typeface="Helvetica Neue"/>
                <a:sym typeface="Helvetica Neue"/>
                <a:extLst>
                  <a:ext uri="http://customooxmlschemas.google.com/">
                    <go:slidesCustomData xmlns:go="http://customooxmlschemas.google.com/" textRoundtripDataId="0"/>
                  </a:ext>
                </a:extLst>
              </a:rPr>
              <a:t>of</a:t>
            </a:r>
            <a:endParaRPr sz="1800">
              <a:solidFill>
                <a:srgbClr val="666666"/>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3400"/>
              <a:buFont typeface="Arial"/>
              <a:buNone/>
            </a:pPr>
            <a:r>
              <a:rPr lang="en" sz="1800">
                <a:solidFill>
                  <a:srgbClr val="666666"/>
                </a:solidFill>
                <a:latin typeface="Helvetica Neue"/>
                <a:ea typeface="Helvetica Neue"/>
                <a:cs typeface="Helvetica Neue"/>
                <a:sym typeface="Helvetica Neue"/>
              </a:rPr>
              <a:t>Imagine Education where ALL Teachers are Growing and Thriving</a:t>
            </a:r>
            <a:endParaRPr sz="1800">
              <a:solidFill>
                <a:srgbClr val="666666"/>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3400"/>
              <a:buFont typeface="Arial"/>
              <a:buNone/>
            </a:pPr>
            <a:r>
              <a:rPr lang="en" sz="1800">
                <a:solidFill>
                  <a:srgbClr val="666666"/>
                </a:solidFill>
                <a:latin typeface="Helvetica Neue"/>
                <a:ea typeface="Helvetica Neue"/>
                <a:cs typeface="Helvetica Neue"/>
                <a:sym typeface="Helvetica Neue"/>
              </a:rPr>
              <a:t>Imagine a solution for Education problems/Teachers development “capacity” problems that is Accessible, Equitable, Scalable, and Contextualized</a:t>
            </a:r>
            <a:endParaRPr sz="1800">
              <a:solidFill>
                <a:srgbClr val="666666"/>
              </a:solidFill>
              <a:latin typeface="Helvetica Neue"/>
              <a:ea typeface="Helvetica Neue"/>
              <a:cs typeface="Helvetica Neue"/>
              <a:sym typeface="Helvetica Neue"/>
            </a:endParaRPr>
          </a:p>
        </p:txBody>
      </p:sp>
      <p:sp>
        <p:nvSpPr>
          <p:cNvPr id="69" name="Google Shape;69;p3"/>
          <p:cNvSpPr txBox="1"/>
          <p:nvPr/>
        </p:nvSpPr>
        <p:spPr>
          <a:xfrm>
            <a:off x="488950" y="2379450"/>
            <a:ext cx="4925400" cy="1854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300">
                <a:solidFill>
                  <a:schemeClr val="dk1"/>
                </a:solidFill>
              </a:rPr>
              <a:t>The Why: </a:t>
            </a:r>
            <a:r>
              <a:rPr lang="en" sz="1300">
                <a:solidFill>
                  <a:schemeClr val="dk1"/>
                </a:solidFill>
                <a:latin typeface="Helvetica Neue"/>
                <a:ea typeface="Helvetica Neue"/>
                <a:cs typeface="Helvetica Neue"/>
                <a:sym typeface="Helvetica Neue"/>
              </a:rPr>
              <a:t>Our hopes are to develop a solution that would benefit all teachers and students, that would grow and evolve as we learn and work with schools and teachers, and that would contribute to improving quality of education. </a:t>
            </a:r>
            <a:endParaRPr sz="13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t/>
            </a:r>
            <a:endParaRPr sz="13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lang="en" sz="1300">
                <a:solidFill>
                  <a:schemeClr val="dk1"/>
                </a:solidFill>
                <a:latin typeface="Helvetica Neue"/>
                <a:ea typeface="Helvetica Neue"/>
                <a:cs typeface="Helvetica Neue"/>
                <a:sym typeface="Helvetica Neue"/>
              </a:rPr>
              <a:t>Suggestion: To nurture the growth and wellbeing of every teacher, believing that their empowered practice is the heart of a vibrant, equitable, and transformative learning environment where every student can thrive.</a:t>
            </a:r>
            <a:endParaRPr sz="13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t/>
            </a:r>
            <a:endParaRPr sz="13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t/>
            </a:r>
            <a:endParaRPr sz="1300">
              <a:solidFill>
                <a:schemeClr val="dk1"/>
              </a:solidFill>
            </a:endParaRPr>
          </a:p>
          <a:p>
            <a:pPr indent="0" lvl="0" marL="0" rtl="0" algn="l">
              <a:spcBef>
                <a:spcPts val="0"/>
              </a:spcBef>
              <a:spcAft>
                <a:spcPts val="0"/>
              </a:spcAft>
              <a:buClr>
                <a:schemeClr val="dk1"/>
              </a:buClr>
              <a:buSzPts val="1100"/>
              <a:buFont typeface="Arial"/>
              <a:buNone/>
            </a:pPr>
            <a:r>
              <a:t/>
            </a:r>
            <a:endParaRPr sz="1300">
              <a:solidFill>
                <a:schemeClr val="dk1"/>
              </a:solidFill>
            </a:endParaRPr>
          </a:p>
          <a:p>
            <a:pPr indent="0" lvl="0" marL="0" marR="0" rtl="0" algn="l">
              <a:lnSpc>
                <a:spcPct val="115000"/>
              </a:lnSpc>
              <a:spcBef>
                <a:spcPts val="0"/>
              </a:spcBef>
              <a:spcAft>
                <a:spcPts val="0"/>
              </a:spcAft>
              <a:buNone/>
            </a:pPr>
            <a:r>
              <a:t/>
            </a:r>
            <a:endParaRPr sz="1300">
              <a:solidFill>
                <a:schemeClr val="dk1"/>
              </a:solidFill>
              <a:highlight>
                <a:schemeClr val="lt1"/>
              </a:highlight>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1100"/>
              <a:buFont typeface="Arial"/>
              <a:buNone/>
            </a:pPr>
            <a:r>
              <a:t/>
            </a:r>
            <a:endParaRPr b="0" i="0" sz="1300" u="none" cap="none" strike="noStrike">
              <a:solidFill>
                <a:schemeClr val="dk1"/>
              </a:solidFill>
              <a:latin typeface="Helvetica Neue"/>
              <a:ea typeface="Helvetica Neue"/>
              <a:cs typeface="Helvetica Neue"/>
              <a:sym typeface="Helvetica Neue"/>
            </a:endParaRPr>
          </a:p>
        </p:txBody>
      </p:sp>
      <p:sp>
        <p:nvSpPr>
          <p:cNvPr id="70" name="Google Shape;70;p3"/>
          <p:cNvSpPr/>
          <p:nvPr/>
        </p:nvSpPr>
        <p:spPr>
          <a:xfrm>
            <a:off x="6101075" y="2131550"/>
            <a:ext cx="2031900" cy="2681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
          <p:cNvSpPr txBox="1"/>
          <p:nvPr/>
        </p:nvSpPr>
        <p:spPr>
          <a:xfrm>
            <a:off x="6486375" y="2379450"/>
            <a:ext cx="408300" cy="384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1100"/>
              <a:buFont typeface="Arial"/>
              <a:buNone/>
            </a:pPr>
            <a:r>
              <a:rPr b="1" i="0" lang="en" sz="1100" u="none" cap="none" strike="noStrike">
                <a:solidFill>
                  <a:srgbClr val="999999"/>
                </a:solidFill>
                <a:latin typeface="Gothic A1"/>
                <a:ea typeface="Gothic A1"/>
                <a:cs typeface="Gothic A1"/>
                <a:sym typeface="Gothic A1"/>
              </a:rPr>
              <a:t>Add graph</a:t>
            </a:r>
            <a:br>
              <a:rPr b="1" i="0" lang="en" sz="1100" u="none" cap="none" strike="noStrike">
                <a:solidFill>
                  <a:srgbClr val="999999"/>
                </a:solidFill>
                <a:latin typeface="Gothic A1"/>
                <a:ea typeface="Gothic A1"/>
                <a:cs typeface="Gothic A1"/>
                <a:sym typeface="Gothic A1"/>
              </a:rPr>
            </a:br>
            <a:r>
              <a:rPr b="1" i="0" lang="en" sz="1100" u="none" cap="none" strike="noStrike">
                <a:solidFill>
                  <a:srgbClr val="999999"/>
                </a:solidFill>
                <a:latin typeface="Gothic A1"/>
                <a:ea typeface="Gothic A1"/>
                <a:cs typeface="Gothic A1"/>
                <a:sym typeface="Gothic A1"/>
              </a:rPr>
              <a:t>or image</a:t>
            </a:r>
            <a:endParaRPr b="0" i="0" sz="1100" u="none" cap="none" strike="noStrike">
              <a:solidFill>
                <a:srgbClr val="999999"/>
              </a:solidFill>
              <a:latin typeface="Gothic A1"/>
              <a:ea typeface="Gothic A1"/>
              <a:cs typeface="Gothic A1"/>
              <a:sym typeface="Gothic A1"/>
            </a:endParaRPr>
          </a:p>
        </p:txBody>
      </p:sp>
      <p:pic>
        <p:nvPicPr>
          <p:cNvPr id="72" name="Google Shape;72;p3" title="RafiqAI Logo.png"/>
          <p:cNvPicPr preferRelativeResize="0"/>
          <p:nvPr/>
        </p:nvPicPr>
        <p:blipFill>
          <a:blip r:embed="rId4">
            <a:alphaModFix/>
          </a:blip>
          <a:stretch>
            <a:fillRect/>
          </a:stretch>
        </p:blipFill>
        <p:spPr>
          <a:xfrm>
            <a:off x="488525" y="4234500"/>
            <a:ext cx="578150" cy="578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a:hlinkClick r:id="rId3"/>
          </p:cNvPr>
          <p:cNvSpPr txBox="1"/>
          <p:nvPr/>
        </p:nvSpPr>
        <p:spPr>
          <a:xfrm>
            <a:off x="447575" y="476250"/>
            <a:ext cx="8046000" cy="80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400"/>
              <a:buFont typeface="Arial"/>
              <a:buNone/>
            </a:pPr>
            <a:r>
              <a:rPr lang="en" sz="1800">
                <a:solidFill>
                  <a:srgbClr val="666666"/>
                </a:solidFill>
                <a:latin typeface="Helvetica Neue"/>
                <a:ea typeface="Helvetica Neue"/>
                <a:cs typeface="Helvetica Neue"/>
                <a:sym typeface="Helvetica Neue"/>
              </a:rPr>
              <a:t>Across the Arab World and Africa, professional development is growing—but teachers are still struggling</a:t>
            </a:r>
            <a:endParaRPr b="0" i="0" sz="1800" u="none" cap="none" strike="noStrike">
              <a:solidFill>
                <a:srgbClr val="666666"/>
              </a:solidFill>
              <a:latin typeface="Helvetica Neue"/>
              <a:ea typeface="Helvetica Neue"/>
              <a:cs typeface="Helvetica Neue"/>
              <a:sym typeface="Helvetica Neue"/>
            </a:endParaRPr>
          </a:p>
        </p:txBody>
      </p:sp>
      <p:sp>
        <p:nvSpPr>
          <p:cNvPr id="78" name="Google Shape;78;p4"/>
          <p:cNvSpPr txBox="1"/>
          <p:nvPr/>
        </p:nvSpPr>
        <p:spPr>
          <a:xfrm>
            <a:off x="488950" y="1208350"/>
            <a:ext cx="4820400" cy="3652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300">
                <a:solidFill>
                  <a:schemeClr val="dk1"/>
                </a:solidFill>
              </a:rPr>
              <a:t>Across the Arab world and Africa, education systems struggle with </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teacher shortages</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outdated professional development models, </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limited access to instructional coaching—despite its proven effectiveness in improving teaching quality. </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lack of contextualization. Reforms are often imposed through pre-designed, one-size-fits-all programs that fail to reflect local realities,</a:t>
            </a:r>
            <a:endParaRPr sz="1300">
              <a:solidFill>
                <a:schemeClr val="dk1"/>
              </a:solidFill>
            </a:endParaRPr>
          </a:p>
          <a:p>
            <a:pPr indent="0" lvl="0" marL="0" rtl="0" algn="l">
              <a:spcBef>
                <a:spcPts val="0"/>
              </a:spcBef>
              <a:spcAft>
                <a:spcPts val="0"/>
              </a:spcAft>
              <a:buNone/>
            </a:pPr>
            <a:r>
              <a:rPr lang="en" sz="1300">
                <a:solidFill>
                  <a:schemeClr val="dk1"/>
                </a:solidFill>
              </a:rPr>
              <a:t>Coaching remains rare outside elite private schools, with most coaches supporting over 50 teachers using manual, inefficient methods. </a:t>
            </a:r>
            <a:endParaRPr sz="1300">
              <a:solidFill>
                <a:schemeClr val="dk1"/>
              </a:solidFill>
            </a:endParaRPr>
          </a:p>
          <a:p>
            <a:pPr indent="0" lvl="0" marL="0" rtl="0" algn="l">
              <a:spcBef>
                <a:spcPts val="0"/>
              </a:spcBef>
              <a:spcAft>
                <a:spcPts val="0"/>
              </a:spcAft>
              <a:buNone/>
            </a:pPr>
            <a:r>
              <a:rPr lang="en" sz="1300">
                <a:solidFill>
                  <a:schemeClr val="dk1"/>
                </a:solidFill>
              </a:rPr>
              <a:t>Schools lack tools to track coaching impact or ensure alignment with curriculum standards. </a:t>
            </a:r>
            <a:endParaRPr sz="1300">
              <a:solidFill>
                <a:schemeClr val="dk1"/>
              </a:solidFill>
            </a:endParaRPr>
          </a:p>
          <a:p>
            <a:pPr indent="0" lvl="0" marL="0" rtl="0" algn="l">
              <a:spcBef>
                <a:spcPts val="0"/>
              </a:spcBef>
              <a:spcAft>
                <a:spcPts val="0"/>
              </a:spcAft>
              <a:buNone/>
            </a:pPr>
            <a:r>
              <a:rPr lang="en" sz="1300">
                <a:solidFill>
                  <a:schemeClr val="dk1"/>
                </a:solidFill>
              </a:rPr>
              <a:t>As a result, $2.3B+ is wasted annually on ineffective training, and millions of students fall behind in foundational skills. </a:t>
            </a:r>
            <a:endParaRPr sz="1300">
              <a:solidFill>
                <a:schemeClr val="dk1"/>
              </a:solidFill>
            </a:endParaRPr>
          </a:p>
          <a:p>
            <a:pPr indent="0" lvl="0" marL="0" rtl="0" algn="l">
              <a:spcBef>
                <a:spcPts val="0"/>
              </a:spcBef>
              <a:spcAft>
                <a:spcPts val="0"/>
              </a:spcAft>
              <a:buNone/>
            </a:pPr>
            <a:r>
              <a:rPr lang="en" sz="1300">
                <a:solidFill>
                  <a:schemeClr val="dk1"/>
                </a:solidFill>
              </a:rPr>
              <a:t>There is little attention paid to meeting teachers where they are. </a:t>
            </a:r>
            <a:br>
              <a:rPr lang="en" sz="1300">
                <a:solidFill>
                  <a:schemeClr val="dk1"/>
                </a:solidFill>
              </a:rPr>
            </a:br>
            <a:endParaRPr b="0" i="0" sz="1300" u="none" cap="none" strike="noStrike">
              <a:solidFill>
                <a:srgbClr val="999999"/>
              </a:solidFill>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1100"/>
              <a:buFont typeface="Arial"/>
              <a:buNone/>
            </a:pPr>
            <a:r>
              <a:t/>
            </a:r>
            <a:endParaRPr b="0" i="0" sz="1300" u="none" cap="none" strike="noStrike">
              <a:solidFill>
                <a:srgbClr val="999999"/>
              </a:solidFill>
              <a:latin typeface="Helvetica Neue"/>
              <a:ea typeface="Helvetica Neue"/>
              <a:cs typeface="Helvetica Neue"/>
              <a:sym typeface="Helvetica Neue"/>
            </a:endParaRPr>
          </a:p>
        </p:txBody>
      </p:sp>
      <p:sp>
        <p:nvSpPr>
          <p:cNvPr id="79" name="Google Shape;79;p4"/>
          <p:cNvSpPr/>
          <p:nvPr/>
        </p:nvSpPr>
        <p:spPr>
          <a:xfrm>
            <a:off x="6548100" y="973525"/>
            <a:ext cx="2137500" cy="3270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4"/>
          <p:cNvSpPr txBox="1"/>
          <p:nvPr/>
        </p:nvSpPr>
        <p:spPr>
          <a:xfrm>
            <a:off x="6255050" y="2379450"/>
            <a:ext cx="639600" cy="384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1100"/>
              <a:buFont typeface="Arial"/>
              <a:buNone/>
            </a:pPr>
            <a:r>
              <a:rPr b="1" i="0" lang="en" sz="1100" u="none" cap="none" strike="noStrike">
                <a:solidFill>
                  <a:srgbClr val="999999"/>
                </a:solidFill>
                <a:latin typeface="Gothic A1"/>
                <a:ea typeface="Gothic A1"/>
                <a:cs typeface="Gothic A1"/>
                <a:sym typeface="Gothic A1"/>
              </a:rPr>
              <a:t>Add graph</a:t>
            </a:r>
            <a:br>
              <a:rPr b="1" i="0" lang="en" sz="1100" u="none" cap="none" strike="noStrike">
                <a:solidFill>
                  <a:srgbClr val="999999"/>
                </a:solidFill>
                <a:latin typeface="Gothic A1"/>
                <a:ea typeface="Gothic A1"/>
                <a:cs typeface="Gothic A1"/>
                <a:sym typeface="Gothic A1"/>
              </a:rPr>
            </a:br>
            <a:r>
              <a:rPr b="1" i="0" lang="en" sz="1100" u="none" cap="none" strike="noStrike">
                <a:solidFill>
                  <a:srgbClr val="999999"/>
                </a:solidFill>
                <a:latin typeface="Gothic A1"/>
                <a:ea typeface="Gothic A1"/>
                <a:cs typeface="Gothic A1"/>
                <a:sym typeface="Gothic A1"/>
              </a:rPr>
              <a:t>or image</a:t>
            </a:r>
            <a:endParaRPr b="0" i="0" sz="1100" u="none" cap="none" strike="noStrike">
              <a:solidFill>
                <a:srgbClr val="999999"/>
              </a:solidFill>
              <a:latin typeface="Gothic A1"/>
              <a:ea typeface="Gothic A1"/>
              <a:cs typeface="Gothic A1"/>
              <a:sym typeface="Gothic A1"/>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5">
            <a:hlinkClick r:id="rId3"/>
          </p:cNvPr>
          <p:cNvSpPr txBox="1"/>
          <p:nvPr/>
        </p:nvSpPr>
        <p:spPr>
          <a:xfrm>
            <a:off x="447575" y="476250"/>
            <a:ext cx="8020500" cy="49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400"/>
              <a:buFont typeface="Arial"/>
              <a:buNone/>
            </a:pPr>
            <a:r>
              <a:rPr lang="en" sz="1800">
                <a:solidFill>
                  <a:srgbClr val="666666"/>
                </a:solidFill>
                <a:latin typeface="Helvetica Neue"/>
                <a:ea typeface="Helvetica Neue"/>
                <a:cs typeface="Helvetica Neue"/>
                <a:sym typeface="Helvetica Neue"/>
              </a:rPr>
              <a:t>Our AI-powered App </a:t>
            </a:r>
            <a:r>
              <a:rPr lang="en" sz="1800">
                <a:solidFill>
                  <a:srgbClr val="666666"/>
                </a:solidFill>
                <a:latin typeface="Helvetica Neue"/>
                <a:ea typeface="Helvetica Neue"/>
                <a:cs typeface="Helvetica Neue"/>
                <a:sym typeface="Helvetica Neue"/>
                <a:extLst>
                  <a:ext uri="http://customooxmlschemas.google.com/">
                    <go:slidesCustomData xmlns:go="http://customooxmlschemas.google.com/" textRoundtripDataId="1"/>
                  </a:ext>
                </a:extLst>
              </a:rPr>
              <a:t>combined</a:t>
            </a:r>
            <a:r>
              <a:rPr lang="en" sz="1800">
                <a:solidFill>
                  <a:srgbClr val="666666"/>
                </a:solidFill>
                <a:latin typeface="Helvetica Neue"/>
                <a:ea typeface="Helvetica Neue"/>
                <a:cs typeface="Helvetica Neue"/>
                <a:sym typeface="Helvetica Neue"/>
              </a:rPr>
              <a:t> with human coaching </a:t>
            </a:r>
            <a:r>
              <a:rPr lang="en" sz="1800">
                <a:solidFill>
                  <a:schemeClr val="dk2"/>
                </a:solidFill>
                <a:latin typeface="Helvetica Neue"/>
                <a:ea typeface="Helvetica Neue"/>
                <a:cs typeface="Helvetica Neue"/>
                <a:sym typeface="Helvetica Neue"/>
              </a:rPr>
              <a:t>bridge the gap between professional development and classroom practice</a:t>
            </a:r>
            <a:endParaRPr i="0" sz="2300" u="none" cap="none" strike="noStrike">
              <a:solidFill>
                <a:schemeClr val="dk2"/>
              </a:solidFill>
              <a:latin typeface="Helvetica Neue"/>
              <a:ea typeface="Helvetica Neue"/>
              <a:cs typeface="Helvetica Neue"/>
              <a:sym typeface="Helvetica Neue"/>
            </a:endParaRPr>
          </a:p>
        </p:txBody>
      </p:sp>
      <p:sp>
        <p:nvSpPr>
          <p:cNvPr id="86" name="Google Shape;86;p5"/>
          <p:cNvSpPr txBox="1"/>
          <p:nvPr/>
        </p:nvSpPr>
        <p:spPr>
          <a:xfrm>
            <a:off x="375975" y="1420400"/>
            <a:ext cx="5233800" cy="3490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br>
              <a:rPr lang="en" sz="1300">
                <a:solidFill>
                  <a:schemeClr val="dk1"/>
                </a:solidFill>
              </a:rPr>
            </a:br>
            <a:r>
              <a:rPr lang="en" sz="1300">
                <a:solidFill>
                  <a:schemeClr val="dk1"/>
                </a:solidFill>
              </a:rPr>
              <a:t>RafiqAI is a generative AI-powered SaaS platform that delivers </a:t>
            </a:r>
            <a:r>
              <a:rPr b="1" lang="en" sz="1300">
                <a:solidFill>
                  <a:schemeClr val="dk1"/>
                </a:solidFill>
              </a:rPr>
              <a:t>personalized instructional coaching</a:t>
            </a:r>
            <a:r>
              <a:rPr lang="en" sz="1300">
                <a:solidFill>
                  <a:schemeClr val="dk1"/>
                </a:solidFill>
              </a:rPr>
              <a:t> and professional development for teachers</a:t>
            </a:r>
            <a:r>
              <a:rPr b="1" lang="en" sz="1300">
                <a:solidFill>
                  <a:schemeClr val="dk1"/>
                </a:solidFill>
              </a:rPr>
              <a:t> at scale</a:t>
            </a:r>
            <a:r>
              <a:rPr lang="en" sz="1300">
                <a:solidFill>
                  <a:schemeClr val="dk1"/>
                </a:solidFill>
              </a:rPr>
              <a:t>. </a:t>
            </a:r>
            <a:endParaRPr sz="1300">
              <a:solidFill>
                <a:schemeClr val="dk1"/>
              </a:solidFill>
            </a:endParaRPr>
          </a:p>
          <a:p>
            <a:pPr indent="0" lvl="0" marL="0" rtl="0" algn="l">
              <a:spcBef>
                <a:spcPts val="0"/>
              </a:spcBef>
              <a:spcAft>
                <a:spcPts val="0"/>
              </a:spcAft>
              <a:buClr>
                <a:schemeClr val="dk1"/>
              </a:buClr>
              <a:buSzPts val="1100"/>
              <a:buFont typeface="Arial"/>
              <a:buNone/>
            </a:pPr>
            <a:r>
              <a:t/>
            </a:r>
            <a:endParaRPr sz="1300">
              <a:solidFill>
                <a:schemeClr val="dk1"/>
              </a:solidFill>
            </a:endParaRPr>
          </a:p>
          <a:p>
            <a:pPr indent="0" lvl="0" marL="0" rtl="0" algn="l">
              <a:spcBef>
                <a:spcPts val="0"/>
              </a:spcBef>
              <a:spcAft>
                <a:spcPts val="0"/>
              </a:spcAft>
              <a:buClr>
                <a:schemeClr val="dk1"/>
              </a:buClr>
              <a:buSzPts val="1100"/>
              <a:buFont typeface="Arial"/>
              <a:buNone/>
            </a:pPr>
            <a:r>
              <a:rPr lang="en" sz="1300">
                <a:solidFill>
                  <a:schemeClr val="dk1"/>
                </a:solidFill>
              </a:rPr>
              <a:t>RafiqAI combines </a:t>
            </a:r>
            <a:r>
              <a:rPr b="1" lang="en" sz="1300">
                <a:solidFill>
                  <a:schemeClr val="dk1"/>
                </a:solidFill>
              </a:rPr>
              <a:t>generative AI automation</a:t>
            </a:r>
            <a:r>
              <a:rPr lang="en" sz="1300">
                <a:solidFill>
                  <a:schemeClr val="dk1"/>
                </a:solidFill>
              </a:rPr>
              <a:t> with </a:t>
            </a:r>
            <a:r>
              <a:rPr b="1" lang="en" sz="1300">
                <a:solidFill>
                  <a:schemeClr val="dk1"/>
                </a:solidFill>
              </a:rPr>
              <a:t>human-led instructional coaching</a:t>
            </a:r>
            <a:r>
              <a:rPr lang="en" sz="1300">
                <a:solidFill>
                  <a:schemeClr val="dk1"/>
                </a:solidFill>
              </a:rPr>
              <a:t> to bridge the gap between professional development and classroom impact, and offer </a:t>
            </a:r>
            <a:r>
              <a:rPr lang="en" sz="1300">
                <a:solidFill>
                  <a:schemeClr val="dk1"/>
                </a:solidFill>
              </a:rPr>
              <a:t>scalable, </a:t>
            </a:r>
            <a:r>
              <a:rPr b="1" lang="en" sz="1300">
                <a:solidFill>
                  <a:schemeClr val="dk1"/>
                </a:solidFill>
              </a:rPr>
              <a:t>context-based </a:t>
            </a:r>
            <a:r>
              <a:rPr lang="en" sz="1300">
                <a:solidFill>
                  <a:schemeClr val="dk1"/>
                </a:solidFill>
              </a:rPr>
              <a:t>support </a:t>
            </a:r>
            <a:endParaRPr sz="1300">
              <a:solidFill>
                <a:schemeClr val="dk1"/>
              </a:solidFill>
            </a:endParaRPr>
          </a:p>
          <a:p>
            <a:pPr indent="0" lvl="0" marL="0" rtl="0" algn="l">
              <a:spcBef>
                <a:spcPts val="0"/>
              </a:spcBef>
              <a:spcAft>
                <a:spcPts val="0"/>
              </a:spcAft>
              <a:buClr>
                <a:schemeClr val="dk1"/>
              </a:buClr>
              <a:buSzPts val="1100"/>
              <a:buFont typeface="Arial"/>
              <a:buNone/>
            </a:pPr>
            <a:r>
              <a:t/>
            </a:r>
            <a:endParaRPr sz="1300">
              <a:solidFill>
                <a:schemeClr val="dk1"/>
              </a:solidFill>
            </a:endParaRPr>
          </a:p>
          <a:p>
            <a:pPr indent="0" lvl="0" marL="0" rtl="0" algn="l">
              <a:spcBef>
                <a:spcPts val="0"/>
              </a:spcBef>
              <a:spcAft>
                <a:spcPts val="0"/>
              </a:spcAft>
              <a:buClr>
                <a:schemeClr val="dk1"/>
              </a:buClr>
              <a:buSzPts val="1100"/>
              <a:buFont typeface="Arial"/>
              <a:buNone/>
            </a:pPr>
            <a:r>
              <a:rPr lang="en" sz="1300">
                <a:solidFill>
                  <a:schemeClr val="dk1"/>
                </a:solidFill>
              </a:rPr>
              <a:t>transforming instructional coaching from a resource-intensive luxury into a scalable, equitable reality</a:t>
            </a:r>
            <a:endParaRPr sz="1300">
              <a:solidFill>
                <a:schemeClr val="dk1"/>
              </a:solidFill>
            </a:endParaRPr>
          </a:p>
          <a:p>
            <a:pPr indent="0" lvl="0" marL="0" rtl="0" algn="l">
              <a:spcBef>
                <a:spcPts val="0"/>
              </a:spcBef>
              <a:spcAft>
                <a:spcPts val="0"/>
              </a:spcAft>
              <a:buClr>
                <a:schemeClr val="dk1"/>
              </a:buClr>
              <a:buSzPts val="1100"/>
              <a:buFont typeface="Arial"/>
              <a:buNone/>
            </a:pPr>
            <a:r>
              <a:t/>
            </a:r>
            <a:endParaRPr sz="1300">
              <a:solidFill>
                <a:schemeClr val="dk1"/>
              </a:solidFill>
            </a:endParaRPr>
          </a:p>
          <a:p>
            <a:pPr indent="0" lvl="0" marL="0" rtl="0" algn="l">
              <a:spcBef>
                <a:spcPts val="0"/>
              </a:spcBef>
              <a:spcAft>
                <a:spcPts val="0"/>
              </a:spcAft>
              <a:buClr>
                <a:schemeClr val="dk1"/>
              </a:buClr>
              <a:buSzPts val="1100"/>
              <a:buFont typeface="Arial"/>
              <a:buNone/>
            </a:pPr>
            <a:r>
              <a:rPr lang="en" sz="1300">
                <a:solidFill>
                  <a:schemeClr val="dk1"/>
                </a:solidFill>
              </a:rPr>
              <a:t>We solve three core problems identified in global PD research:</a:t>
            </a:r>
            <a:endParaRPr sz="1300">
              <a:solidFill>
                <a:schemeClr val="dk1"/>
              </a:solidFill>
            </a:endParaRPr>
          </a:p>
          <a:p>
            <a:pPr indent="-311150" lvl="0" marL="457200" rtl="0" algn="l">
              <a:spcBef>
                <a:spcPts val="0"/>
              </a:spcBef>
              <a:spcAft>
                <a:spcPts val="0"/>
              </a:spcAft>
              <a:buClr>
                <a:schemeClr val="dk1"/>
              </a:buClr>
              <a:buSzPts val="1300"/>
              <a:buAutoNum type="arabicPeriod"/>
            </a:pPr>
            <a:r>
              <a:rPr lang="en" sz="1300">
                <a:solidFill>
                  <a:schemeClr val="dk1"/>
                </a:solidFill>
              </a:rPr>
              <a:t>Personalization at Scale</a:t>
            </a:r>
            <a:endParaRPr sz="1300">
              <a:solidFill>
                <a:schemeClr val="dk1"/>
              </a:solidFill>
            </a:endParaRPr>
          </a:p>
          <a:p>
            <a:pPr indent="-311150" lvl="0" marL="457200" rtl="0" algn="l">
              <a:spcBef>
                <a:spcPts val="0"/>
              </a:spcBef>
              <a:spcAft>
                <a:spcPts val="0"/>
              </a:spcAft>
              <a:buClr>
                <a:schemeClr val="dk1"/>
              </a:buClr>
              <a:buSzPts val="1300"/>
              <a:buAutoNum type="arabicPeriod"/>
            </a:pPr>
            <a:r>
              <a:rPr lang="en" sz="1300">
                <a:solidFill>
                  <a:schemeClr val="dk1"/>
                </a:solidFill>
              </a:rPr>
              <a:t>Sustainable Skill Transfer</a:t>
            </a:r>
            <a:endParaRPr sz="1300">
              <a:solidFill>
                <a:schemeClr val="dk1"/>
              </a:solidFill>
            </a:endParaRPr>
          </a:p>
          <a:p>
            <a:pPr indent="-311150" lvl="0" marL="457200" rtl="0" algn="l">
              <a:spcBef>
                <a:spcPts val="0"/>
              </a:spcBef>
              <a:spcAft>
                <a:spcPts val="0"/>
              </a:spcAft>
              <a:buClr>
                <a:schemeClr val="dk1"/>
              </a:buClr>
              <a:buSzPts val="1300"/>
              <a:buAutoNum type="arabicPeriod"/>
            </a:pPr>
            <a:r>
              <a:rPr lang="en" sz="1300">
                <a:solidFill>
                  <a:schemeClr val="dk1"/>
                </a:solidFill>
              </a:rPr>
              <a:t>Unmeasurable Impact</a:t>
            </a:r>
            <a:br>
              <a:rPr lang="en" sz="1300">
                <a:solidFill>
                  <a:schemeClr val="dk1"/>
                </a:solidFill>
              </a:rPr>
            </a:br>
            <a:br>
              <a:rPr lang="en" sz="1300">
                <a:solidFill>
                  <a:schemeClr val="dk1"/>
                </a:solidFill>
              </a:rPr>
            </a:br>
            <a:br>
              <a:rPr lang="en" sz="1300">
                <a:solidFill>
                  <a:schemeClr val="dk1"/>
                </a:solidFill>
              </a:rPr>
            </a:br>
            <a:endParaRPr sz="1300">
              <a:solidFill>
                <a:schemeClr val="dk1"/>
              </a:solidFill>
            </a:endParaRPr>
          </a:p>
          <a:p>
            <a:pPr indent="0" lvl="0" marL="0" rtl="0" algn="l">
              <a:spcBef>
                <a:spcPts val="0"/>
              </a:spcBef>
              <a:spcAft>
                <a:spcPts val="0"/>
              </a:spcAft>
              <a:buClr>
                <a:schemeClr val="dk1"/>
              </a:buClr>
              <a:buSzPts val="1100"/>
              <a:buFont typeface="Arial"/>
              <a:buNone/>
            </a:pPr>
            <a:r>
              <a:t/>
            </a:r>
            <a:endParaRPr sz="1300">
              <a:solidFill>
                <a:schemeClr val="dk1"/>
              </a:solidFill>
            </a:endParaRPr>
          </a:p>
          <a:p>
            <a:pPr indent="0" lvl="0" marL="0" marR="0" rtl="0" algn="l">
              <a:lnSpc>
                <a:spcPct val="115000"/>
              </a:lnSpc>
              <a:spcBef>
                <a:spcPts val="0"/>
              </a:spcBef>
              <a:spcAft>
                <a:spcPts val="0"/>
              </a:spcAft>
              <a:buClr>
                <a:srgbClr val="000000"/>
              </a:buClr>
              <a:buSzPts val="1100"/>
              <a:buFont typeface="Arial"/>
              <a:buNone/>
            </a:pPr>
            <a:r>
              <a:t/>
            </a:r>
            <a:endParaRPr b="0" i="0" sz="1300" u="none" cap="none" strike="noStrike">
              <a:solidFill>
                <a:srgbClr val="999999"/>
              </a:solidFill>
              <a:latin typeface="Helvetica Neue"/>
              <a:ea typeface="Helvetica Neue"/>
              <a:cs typeface="Helvetica Neue"/>
              <a:sym typeface="Helvetica Neue"/>
            </a:endParaRPr>
          </a:p>
        </p:txBody>
      </p:sp>
      <p:sp>
        <p:nvSpPr>
          <p:cNvPr id="87" name="Google Shape;87;p5"/>
          <p:cNvSpPr/>
          <p:nvPr/>
        </p:nvSpPr>
        <p:spPr>
          <a:xfrm>
            <a:off x="6154575" y="1633700"/>
            <a:ext cx="2581800" cy="3277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5"/>
          <p:cNvSpPr txBox="1"/>
          <p:nvPr/>
        </p:nvSpPr>
        <p:spPr>
          <a:xfrm>
            <a:off x="6154575" y="2379450"/>
            <a:ext cx="740100" cy="384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1100"/>
              <a:buFont typeface="Arial"/>
              <a:buNone/>
            </a:pPr>
            <a:r>
              <a:rPr b="1" i="0" lang="en" sz="1100" u="none" cap="none" strike="noStrike">
                <a:solidFill>
                  <a:srgbClr val="999999"/>
                </a:solidFill>
                <a:latin typeface="Gothic A1"/>
                <a:ea typeface="Gothic A1"/>
                <a:cs typeface="Gothic A1"/>
                <a:sym typeface="Gothic A1"/>
              </a:rPr>
              <a:t>Add graph</a:t>
            </a:r>
            <a:br>
              <a:rPr b="1" i="0" lang="en" sz="1100" u="none" cap="none" strike="noStrike">
                <a:solidFill>
                  <a:srgbClr val="999999"/>
                </a:solidFill>
                <a:latin typeface="Gothic A1"/>
                <a:ea typeface="Gothic A1"/>
                <a:cs typeface="Gothic A1"/>
                <a:sym typeface="Gothic A1"/>
              </a:rPr>
            </a:br>
            <a:r>
              <a:rPr b="1" i="0" lang="en" sz="1100" u="none" cap="none" strike="noStrike">
                <a:solidFill>
                  <a:srgbClr val="999999"/>
                </a:solidFill>
                <a:latin typeface="Gothic A1"/>
                <a:ea typeface="Gothic A1"/>
                <a:cs typeface="Gothic A1"/>
                <a:sym typeface="Gothic A1"/>
              </a:rPr>
              <a:t>or image</a:t>
            </a:r>
            <a:endParaRPr b="0" i="0" sz="1100" u="none" cap="none" strike="noStrike">
              <a:solidFill>
                <a:srgbClr val="999999"/>
              </a:solidFill>
              <a:latin typeface="Gothic A1"/>
              <a:ea typeface="Gothic A1"/>
              <a:cs typeface="Gothic A1"/>
              <a:sym typeface="Gothic A1"/>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6">
            <a:hlinkClick r:id="rId3"/>
          </p:cNvPr>
          <p:cNvSpPr txBox="1"/>
          <p:nvPr/>
        </p:nvSpPr>
        <p:spPr>
          <a:xfrm>
            <a:off x="447575" y="476250"/>
            <a:ext cx="7970100" cy="84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400"/>
              <a:buFont typeface="Arial"/>
              <a:buNone/>
            </a:pPr>
            <a:r>
              <a:rPr lang="en" sz="1800">
                <a:solidFill>
                  <a:srgbClr val="666666"/>
                </a:solidFill>
                <a:latin typeface="Helvetica Neue"/>
                <a:ea typeface="Helvetica Neue"/>
                <a:cs typeface="Helvetica Neue"/>
                <a:sym typeface="Helvetica Neue"/>
              </a:rPr>
              <a:t>Although</a:t>
            </a:r>
            <a:r>
              <a:rPr lang="en" sz="1800">
                <a:solidFill>
                  <a:srgbClr val="666666"/>
                </a:solidFill>
                <a:latin typeface="Helvetica Neue"/>
                <a:ea typeface="Helvetica Neue"/>
                <a:cs typeface="Helvetica Neue"/>
                <a:sym typeface="Helvetica Neue"/>
                <a:extLst>
                  <a:ext uri="http://customooxmlschemas.google.com/">
                    <go:slidesCustomData xmlns:go="http://customooxmlschemas.google.com/" textRoundtripDataId="2"/>
                  </a:ext>
                </a:extLst>
              </a:rPr>
              <a:t> 500,000 teachers are needed annually</a:t>
            </a:r>
            <a:r>
              <a:rPr lang="en" sz="1800">
                <a:solidFill>
                  <a:srgbClr val="666666"/>
                </a:solidFill>
                <a:latin typeface="Helvetica Neue"/>
                <a:ea typeface="Helvetica Neue"/>
                <a:cs typeface="Helvetica Neue"/>
                <a:sym typeface="Helvetica Neue"/>
              </a:rPr>
              <a:t>, yet professional development is generic and disconnected, So demand is urgent, </a:t>
            </a:r>
            <a:r>
              <a:rPr lang="en" sz="1800">
                <a:solidFill>
                  <a:srgbClr val="666666"/>
                </a:solidFill>
                <a:latin typeface="Helvetica Neue"/>
                <a:ea typeface="Helvetica Neue"/>
                <a:cs typeface="Helvetica Neue"/>
                <a:sym typeface="Helvetica Neue"/>
              </a:rPr>
              <a:t>Tech is ready,</a:t>
            </a:r>
            <a:r>
              <a:rPr lang="en" sz="1800">
                <a:solidFill>
                  <a:srgbClr val="666666"/>
                </a:solidFill>
                <a:latin typeface="Helvetica Neue"/>
                <a:ea typeface="Helvetica Neue"/>
                <a:cs typeface="Helvetica Neue"/>
                <a:sym typeface="Helvetica Neue"/>
              </a:rPr>
              <a:t> and educ</a:t>
            </a:r>
            <a:r>
              <a:rPr lang="en" sz="1800">
                <a:solidFill>
                  <a:srgbClr val="666666"/>
                </a:solidFill>
                <a:latin typeface="Helvetica Neue"/>
                <a:ea typeface="Helvetica Neue"/>
                <a:cs typeface="Helvetica Neue"/>
                <a:sym typeface="Helvetica Neue"/>
                <a:extLst>
                  <a:ext uri="http://customooxmlschemas.google.com/">
                    <go:slidesCustomData xmlns:go="http://customooxmlschemas.google.com/" textRoundtripDataId="3"/>
                  </a:ext>
                </a:extLst>
              </a:rPr>
              <a:t>ation bud</a:t>
            </a:r>
            <a:r>
              <a:rPr lang="en" sz="1800">
                <a:solidFill>
                  <a:srgbClr val="666666"/>
                </a:solidFill>
                <a:latin typeface="Helvetica Neue"/>
                <a:ea typeface="Helvetica Neue"/>
                <a:cs typeface="Helvetica Neue"/>
                <a:sym typeface="Helvetica Neue"/>
              </a:rPr>
              <a:t>gets are shifting</a:t>
            </a:r>
            <a:endParaRPr sz="1800">
              <a:solidFill>
                <a:srgbClr val="666666"/>
              </a:solidFill>
              <a:latin typeface="Helvetica Neue"/>
              <a:ea typeface="Helvetica Neue"/>
              <a:cs typeface="Helvetica Neue"/>
              <a:sym typeface="Helvetica Neue"/>
            </a:endParaRPr>
          </a:p>
        </p:txBody>
      </p:sp>
      <p:sp>
        <p:nvSpPr>
          <p:cNvPr id="94" name="Google Shape;94;p6"/>
          <p:cNvSpPr txBox="1"/>
          <p:nvPr/>
        </p:nvSpPr>
        <p:spPr>
          <a:xfrm>
            <a:off x="488950" y="1656000"/>
            <a:ext cx="4790400" cy="266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Existing chronic problem, AI presents an opportunity to address this problem to scale.</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br>
              <a:rPr lang="en" sz="1300">
                <a:solidFill>
                  <a:schemeClr val="dk1"/>
                </a:solidFill>
                <a:latin typeface="Times New Roman"/>
                <a:ea typeface="Times New Roman"/>
                <a:cs typeface="Times New Roman"/>
                <a:sym typeface="Times New Roman"/>
              </a:rPr>
            </a:br>
            <a:r>
              <a:rPr lang="en" sz="1300">
                <a:solidFill>
                  <a:schemeClr val="dk1"/>
                </a:solidFill>
                <a:latin typeface="Times New Roman"/>
                <a:ea typeface="Times New Roman"/>
                <a:cs typeface="Times New Roman"/>
                <a:sym typeface="Times New Roman"/>
              </a:rPr>
              <a:t>Working with teachers for over a decade, we successfully designed and implemented a pioneering instructional coaching program across diverse school settings in the Arab region and Africa. </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300">
                <a:solidFill>
                  <a:schemeClr val="dk1"/>
                </a:solidFill>
                <a:latin typeface="Times New Roman"/>
                <a:ea typeface="Times New Roman"/>
                <a:cs typeface="Times New Roman"/>
                <a:sym typeface="Times New Roman"/>
              </a:rPr>
              <a:t>The major barrier for sustainability: </a:t>
            </a:r>
            <a:endParaRPr sz="1300">
              <a:solidFill>
                <a:schemeClr val="dk1"/>
              </a:solidFill>
              <a:latin typeface="Times New Roman"/>
              <a:ea typeface="Times New Roman"/>
              <a:cs typeface="Times New Roman"/>
              <a:sym typeface="Times New Roman"/>
            </a:endParaRPr>
          </a:p>
          <a:p>
            <a:pPr indent="-311150" lvl="0" marL="457200" rtl="0" algn="l">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scaling and sustaining this impact</a:t>
            </a:r>
            <a:endParaRPr sz="1300">
              <a:solidFill>
                <a:schemeClr val="dk1"/>
              </a:solidFill>
              <a:latin typeface="Times New Roman"/>
              <a:ea typeface="Times New Roman"/>
              <a:cs typeface="Times New Roman"/>
              <a:sym typeface="Times New Roman"/>
            </a:endParaRPr>
          </a:p>
          <a:p>
            <a:pPr indent="-311150" lvl="0" marL="457200" rtl="0" algn="l">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Scaling the efforts of human coaches to support more teachers</a:t>
            </a:r>
            <a:endParaRPr sz="1300">
              <a:solidFill>
                <a:schemeClr val="dk1"/>
              </a:solidFill>
              <a:latin typeface="Times New Roman"/>
              <a:ea typeface="Times New Roman"/>
              <a:cs typeface="Times New Roman"/>
              <a:sym typeface="Times New Roman"/>
            </a:endParaRPr>
          </a:p>
          <a:p>
            <a:pPr indent="-311150" lvl="0" marL="457200" rtl="0" algn="l">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Developing systemic approaches to peer coaching </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i="0" sz="1300" u="none" cap="none" strike="noStrike">
              <a:solidFill>
                <a:srgbClr val="999999"/>
              </a:solidFill>
              <a:latin typeface="Times New Roman"/>
              <a:ea typeface="Times New Roman"/>
              <a:cs typeface="Times New Roman"/>
              <a:sym typeface="Times New Roman"/>
            </a:endParaRPr>
          </a:p>
        </p:txBody>
      </p:sp>
      <p:sp>
        <p:nvSpPr>
          <p:cNvPr id="95" name="Google Shape;95;p6"/>
          <p:cNvSpPr/>
          <p:nvPr/>
        </p:nvSpPr>
        <p:spPr>
          <a:xfrm>
            <a:off x="5749775" y="1795400"/>
            <a:ext cx="2723700" cy="3192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6"/>
          <p:cNvSpPr txBox="1"/>
          <p:nvPr/>
        </p:nvSpPr>
        <p:spPr>
          <a:xfrm>
            <a:off x="6154575" y="2379450"/>
            <a:ext cx="740100" cy="384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1100"/>
              <a:buFont typeface="Arial"/>
              <a:buNone/>
            </a:pPr>
            <a:r>
              <a:rPr b="1" i="0" lang="en" sz="1100" u="none" cap="none" strike="noStrike">
                <a:solidFill>
                  <a:srgbClr val="999999"/>
                </a:solidFill>
                <a:latin typeface="Gothic A1"/>
                <a:ea typeface="Gothic A1"/>
                <a:cs typeface="Gothic A1"/>
                <a:sym typeface="Gothic A1"/>
              </a:rPr>
              <a:t>Add graph</a:t>
            </a:r>
            <a:br>
              <a:rPr b="1" i="0" lang="en" sz="1100" u="none" cap="none" strike="noStrike">
                <a:solidFill>
                  <a:srgbClr val="999999"/>
                </a:solidFill>
                <a:latin typeface="Gothic A1"/>
                <a:ea typeface="Gothic A1"/>
                <a:cs typeface="Gothic A1"/>
                <a:sym typeface="Gothic A1"/>
              </a:rPr>
            </a:br>
            <a:r>
              <a:rPr b="1" i="0" lang="en" sz="1100" u="none" cap="none" strike="noStrike">
                <a:solidFill>
                  <a:srgbClr val="999999"/>
                </a:solidFill>
                <a:latin typeface="Gothic A1"/>
                <a:ea typeface="Gothic A1"/>
                <a:cs typeface="Gothic A1"/>
                <a:sym typeface="Gothic A1"/>
              </a:rPr>
              <a:t>or image</a:t>
            </a:r>
            <a:endParaRPr b="0" i="0" sz="1100" u="none" cap="none" strike="noStrike">
              <a:solidFill>
                <a:srgbClr val="999999"/>
              </a:solidFill>
              <a:latin typeface="Gothic A1"/>
              <a:ea typeface="Gothic A1"/>
              <a:cs typeface="Gothic A1"/>
              <a:sym typeface="Gothic A1"/>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7">
            <a:hlinkClick r:id="rId3"/>
          </p:cNvPr>
          <p:cNvSpPr txBox="1"/>
          <p:nvPr/>
        </p:nvSpPr>
        <p:spPr>
          <a:xfrm>
            <a:off x="753750" y="496450"/>
            <a:ext cx="7734600" cy="495300"/>
          </a:xfrm>
          <a:prstGeom prst="rect">
            <a:avLst/>
          </a:prstGeom>
          <a:noFill/>
          <a:ln>
            <a:noFill/>
          </a:ln>
        </p:spPr>
        <p:txBody>
          <a:bodyPr anchorCtr="0" anchor="t" bIns="0" lIns="0" spcFirstLastPara="1" rIns="0" wrap="square" tIns="0">
            <a:noAutofit/>
          </a:bodyPr>
          <a:lstStyle/>
          <a:p>
            <a:pPr indent="0" lvl="0" marL="0" marR="203200" rtl="0" algn="l">
              <a:lnSpc>
                <a:spcPct val="142857"/>
              </a:lnSpc>
              <a:spcBef>
                <a:spcPts val="0"/>
              </a:spcBef>
              <a:spcAft>
                <a:spcPts val="0"/>
              </a:spcAft>
              <a:buClr>
                <a:schemeClr val="dk1"/>
              </a:buClr>
              <a:buSzPts val="1100"/>
              <a:buFont typeface="Arial"/>
              <a:buNone/>
            </a:pPr>
            <a:r>
              <a:rPr lang="en" sz="1800">
                <a:solidFill>
                  <a:srgbClr val="444746"/>
                </a:solidFill>
                <a:highlight>
                  <a:srgbClr val="FFFFFF"/>
                </a:highlight>
                <a:latin typeface="Helvetica Neue"/>
                <a:ea typeface="Helvetica Neue"/>
                <a:cs typeface="Helvetica Neue"/>
                <a:sym typeface="Helvetica Neue"/>
              </a:rPr>
              <a:t>We have designed RafiqAI features to match </a:t>
            </a:r>
            <a:r>
              <a:rPr lang="en" sz="1800">
                <a:solidFill>
                  <a:srgbClr val="444746"/>
                </a:solidFill>
                <a:highlight>
                  <a:srgbClr val="FFFFFF"/>
                </a:highlight>
                <a:latin typeface="Helvetica Neue"/>
                <a:ea typeface="Helvetica Neue"/>
                <a:cs typeface="Helvetica Neue"/>
                <a:sym typeface="Helvetica Neue"/>
              </a:rPr>
              <a:t>teachers' needs, </a:t>
            </a:r>
            <a:r>
              <a:rPr lang="en" sz="1800">
                <a:solidFill>
                  <a:srgbClr val="444746"/>
                </a:solidFill>
                <a:highlight>
                  <a:srgbClr val="FFFFFF"/>
                </a:highlight>
                <a:latin typeface="Helvetica Neue"/>
                <a:ea typeface="Helvetica Neue"/>
                <a:cs typeface="Helvetica Neue"/>
                <a:sym typeface="Helvetica Neue"/>
              </a:rPr>
              <a:t>our experiences with teachers, and best practices</a:t>
            </a:r>
            <a:endParaRPr sz="1800">
              <a:solidFill>
                <a:schemeClr val="dk1"/>
              </a:solidFill>
              <a:highlight>
                <a:srgbClr val="FFFFFF"/>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3400"/>
              <a:buFont typeface="Arial"/>
              <a:buNone/>
            </a:pPr>
            <a:r>
              <a:t/>
            </a:r>
            <a:endParaRPr sz="1800">
              <a:solidFill>
                <a:srgbClr val="666666"/>
              </a:solidFill>
              <a:latin typeface="Helvetica Neue"/>
              <a:ea typeface="Helvetica Neue"/>
              <a:cs typeface="Helvetica Neue"/>
              <a:sym typeface="Helvetica Neue"/>
            </a:endParaRPr>
          </a:p>
        </p:txBody>
      </p:sp>
      <p:sp>
        <p:nvSpPr>
          <p:cNvPr id="102" name="Google Shape;102;p7"/>
          <p:cNvSpPr txBox="1"/>
          <p:nvPr/>
        </p:nvSpPr>
        <p:spPr>
          <a:xfrm>
            <a:off x="488525" y="1562950"/>
            <a:ext cx="4670100" cy="3249900"/>
          </a:xfrm>
          <a:prstGeom prst="rect">
            <a:avLst/>
          </a:prstGeom>
          <a:noFill/>
          <a:ln>
            <a:noFill/>
          </a:ln>
        </p:spPr>
        <p:txBody>
          <a:bodyPr anchorCtr="0" anchor="t" bIns="0" lIns="0" spcFirstLastPara="1" rIns="0" wrap="square" tIns="0">
            <a:noAutofit/>
          </a:bodyPr>
          <a:lstStyle/>
          <a:p>
            <a:pPr indent="-311150" lvl="0" marL="457200" marR="0" rtl="0" algn="l">
              <a:lnSpc>
                <a:spcPct val="115000"/>
              </a:lnSpc>
              <a:spcBef>
                <a:spcPts val="0"/>
              </a:spcBef>
              <a:spcAft>
                <a:spcPts val="0"/>
              </a:spcAft>
              <a:buClr>
                <a:schemeClr val="dk1"/>
              </a:buClr>
              <a:buSzPts val="1300"/>
              <a:buFont typeface="Helvetica Neue"/>
              <a:buAutoNum type="arabicPeriod"/>
            </a:pPr>
            <a:r>
              <a:rPr b="1" lang="en" sz="1300">
                <a:solidFill>
                  <a:schemeClr val="dk1"/>
                </a:solidFill>
                <a:latin typeface="Helvetica Neue"/>
                <a:ea typeface="Helvetica Neue"/>
                <a:cs typeface="Helvetica Neue"/>
                <a:sym typeface="Helvetica Neue"/>
              </a:rPr>
              <a:t>RafiqAI Coach:</a:t>
            </a:r>
            <a:r>
              <a:rPr lang="en" sz="1300">
                <a:solidFill>
                  <a:schemeClr val="dk1"/>
                </a:solidFill>
                <a:latin typeface="Helvetica Neue"/>
                <a:ea typeface="Helvetica Neue"/>
                <a:cs typeface="Helvetica Neue"/>
                <a:sym typeface="Helvetica Neue"/>
              </a:rPr>
              <a:t> co-creates with teacher </a:t>
            </a:r>
            <a:r>
              <a:rPr lang="en" sz="1300">
                <a:solidFill>
                  <a:schemeClr val="dk1"/>
                </a:solidFill>
                <a:latin typeface="Helvetica Neue"/>
                <a:ea typeface="Helvetica Neue"/>
                <a:cs typeface="Helvetica Neue"/>
                <a:sym typeface="Helvetica Neue"/>
              </a:rPr>
              <a:t>professional</a:t>
            </a:r>
            <a:r>
              <a:rPr lang="en" sz="1300">
                <a:solidFill>
                  <a:schemeClr val="dk1"/>
                </a:solidFill>
                <a:latin typeface="Helvetica Neue"/>
                <a:ea typeface="Helvetica Neue"/>
                <a:cs typeface="Helvetica Neue"/>
                <a:sym typeface="Helvetica Neue"/>
              </a:rPr>
              <a:t> </a:t>
            </a:r>
            <a:r>
              <a:rPr lang="en" sz="1300">
                <a:solidFill>
                  <a:schemeClr val="dk1"/>
                </a:solidFill>
                <a:latin typeface="Helvetica Neue"/>
                <a:ea typeface="Helvetica Neue"/>
                <a:cs typeface="Helvetica Neue"/>
                <a:sym typeface="Helvetica Neue"/>
              </a:rPr>
              <a:t>growth</a:t>
            </a:r>
            <a:r>
              <a:rPr lang="en" sz="1300">
                <a:solidFill>
                  <a:schemeClr val="dk1"/>
                </a:solidFill>
                <a:latin typeface="Helvetica Neue"/>
                <a:ea typeface="Helvetica Neue"/>
                <a:cs typeface="Helvetica Neue"/>
                <a:sym typeface="Helvetica Neue"/>
              </a:rPr>
              <a:t> goals, co-creates a realistic plan, provides reflective exercises to monitor progress and document, provides data-driven insights and progress reports.</a:t>
            </a:r>
            <a:endParaRPr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Font typeface="Helvetica Neue"/>
              <a:buAutoNum type="arabicPeriod"/>
            </a:pPr>
            <a:r>
              <a:rPr b="1" lang="en" sz="1300">
                <a:solidFill>
                  <a:schemeClr val="dk1"/>
                </a:solidFill>
                <a:latin typeface="Helvetica Neue"/>
                <a:ea typeface="Helvetica Neue"/>
                <a:cs typeface="Helvetica Neue"/>
                <a:sym typeface="Helvetica Neue"/>
              </a:rPr>
              <a:t>Efficient observation and feedback: </a:t>
            </a:r>
            <a:r>
              <a:rPr lang="en" sz="1300">
                <a:solidFill>
                  <a:schemeClr val="dk1"/>
                </a:solidFill>
                <a:latin typeface="Helvetica Neue"/>
                <a:ea typeface="Helvetica Neue"/>
                <a:cs typeface="Helvetica Neue"/>
                <a:sym typeface="Helvetica Neue"/>
              </a:rPr>
              <a:t>coaches and department heads can conduct 15-20 min observations, automate reflective prompts, classroom activity suggestions, and feedback summaries. Teachers receive AI-supported nudges between the in-person visits. </a:t>
            </a:r>
            <a:endParaRPr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Font typeface="Helvetica Neue"/>
              <a:buAutoNum type="arabicPeriod"/>
            </a:pPr>
            <a:r>
              <a:rPr b="1" lang="en" sz="1300">
                <a:solidFill>
                  <a:schemeClr val="dk1"/>
                </a:solidFill>
                <a:latin typeface="Helvetica Neue"/>
                <a:ea typeface="Helvetica Neue"/>
                <a:cs typeface="Helvetica Neue"/>
                <a:sym typeface="Helvetica Neue"/>
              </a:rPr>
              <a:t>Human-AI Connection:</a:t>
            </a:r>
            <a:r>
              <a:rPr lang="en" sz="1300">
                <a:solidFill>
                  <a:schemeClr val="dk1"/>
                </a:solidFill>
                <a:latin typeface="Helvetica Neue"/>
                <a:ea typeface="Helvetica Neue"/>
                <a:cs typeface="Helvetica Neue"/>
                <a:sym typeface="Helvetica Neue"/>
              </a:rPr>
              <a:t> RafiqAI coach reports back to human coach and can be directed by coach/ head of department</a:t>
            </a:r>
            <a:endParaRPr sz="1300">
              <a:solidFill>
                <a:schemeClr val="dk1"/>
              </a:solidFill>
              <a:latin typeface="Helvetica Neue"/>
              <a:ea typeface="Helvetica Neue"/>
              <a:cs typeface="Helvetica Neue"/>
              <a:sym typeface="Helvetica Neue"/>
            </a:endParaRPr>
          </a:p>
          <a:p>
            <a:pPr indent="-311150" lvl="0" marL="457200" marR="0" rtl="0" algn="l">
              <a:lnSpc>
                <a:spcPct val="115000"/>
              </a:lnSpc>
              <a:spcBef>
                <a:spcPts val="0"/>
              </a:spcBef>
              <a:spcAft>
                <a:spcPts val="0"/>
              </a:spcAft>
              <a:buClr>
                <a:schemeClr val="dk1"/>
              </a:buClr>
              <a:buSzPts val="1300"/>
              <a:buFont typeface="Helvetica Neue"/>
              <a:buAutoNum type="arabicPeriod"/>
            </a:pPr>
            <a:r>
              <a:rPr b="1" lang="en" sz="1300">
                <a:solidFill>
                  <a:schemeClr val="dk1"/>
                </a:solidFill>
                <a:latin typeface="Helvetica Neue"/>
                <a:ea typeface="Helvetica Neue"/>
                <a:cs typeface="Helvetica Neue"/>
                <a:sym typeface="Helvetica Neue"/>
              </a:rPr>
              <a:t>Professional Portfolio:</a:t>
            </a:r>
            <a:r>
              <a:rPr lang="en" sz="1300">
                <a:solidFill>
                  <a:schemeClr val="dk1"/>
                </a:solidFill>
                <a:latin typeface="Helvetica Neue"/>
                <a:ea typeface="Helvetica Neue"/>
                <a:cs typeface="Helvetica Neue"/>
                <a:sym typeface="Helvetica Neue"/>
              </a:rPr>
              <a:t> provides guidance on documenting teaching innovations, tracking student engagement, and gathering evidence of impact.</a:t>
            </a:r>
            <a:endParaRPr sz="1300">
              <a:solidFill>
                <a:schemeClr val="dk1"/>
              </a:solidFill>
              <a:latin typeface="Helvetica Neue"/>
              <a:ea typeface="Helvetica Neue"/>
              <a:cs typeface="Helvetica Neue"/>
              <a:sym typeface="Helvetica Neue"/>
            </a:endParaRPr>
          </a:p>
        </p:txBody>
      </p:sp>
      <p:sp>
        <p:nvSpPr>
          <p:cNvPr id="103" name="Google Shape;103;p7"/>
          <p:cNvSpPr/>
          <p:nvPr/>
        </p:nvSpPr>
        <p:spPr>
          <a:xfrm>
            <a:off x="6343400" y="1562950"/>
            <a:ext cx="2195400" cy="289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7"/>
          <p:cNvSpPr txBox="1"/>
          <p:nvPr/>
        </p:nvSpPr>
        <p:spPr>
          <a:xfrm>
            <a:off x="6939775" y="2419875"/>
            <a:ext cx="740100" cy="384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1100"/>
              <a:buFont typeface="Arial"/>
              <a:buNone/>
            </a:pPr>
            <a:r>
              <a:rPr b="1" i="0" lang="en" sz="1100" u="none" cap="none" strike="noStrike">
                <a:solidFill>
                  <a:srgbClr val="999999"/>
                </a:solidFill>
                <a:latin typeface="Gothic A1"/>
                <a:ea typeface="Gothic A1"/>
                <a:cs typeface="Gothic A1"/>
                <a:sym typeface="Gothic A1"/>
              </a:rPr>
              <a:t>Add graph</a:t>
            </a:r>
            <a:br>
              <a:rPr b="1" i="0" lang="en" sz="1100" u="none" cap="none" strike="noStrike">
                <a:solidFill>
                  <a:srgbClr val="999999"/>
                </a:solidFill>
                <a:latin typeface="Gothic A1"/>
                <a:ea typeface="Gothic A1"/>
                <a:cs typeface="Gothic A1"/>
                <a:sym typeface="Gothic A1"/>
              </a:rPr>
            </a:br>
            <a:r>
              <a:rPr b="1" i="0" lang="en" sz="1100" u="none" cap="none" strike="noStrike">
                <a:solidFill>
                  <a:srgbClr val="999999"/>
                </a:solidFill>
                <a:latin typeface="Gothic A1"/>
                <a:ea typeface="Gothic A1"/>
                <a:cs typeface="Gothic A1"/>
                <a:sym typeface="Gothic A1"/>
              </a:rPr>
              <a:t>or image</a:t>
            </a:r>
            <a:endParaRPr b="0" i="0" sz="1100" u="none" cap="none" strike="noStrike">
              <a:solidFill>
                <a:srgbClr val="999999"/>
              </a:solidFill>
              <a:latin typeface="Gothic A1"/>
              <a:ea typeface="Gothic A1"/>
              <a:cs typeface="Gothic A1"/>
              <a:sym typeface="Gothic A1"/>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37a0610d726_3_0">
            <a:hlinkClick r:id="rId3"/>
          </p:cNvPr>
          <p:cNvSpPr txBox="1"/>
          <p:nvPr/>
        </p:nvSpPr>
        <p:spPr>
          <a:xfrm>
            <a:off x="447575" y="476250"/>
            <a:ext cx="7535400" cy="49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400"/>
              <a:buFont typeface="Arial"/>
              <a:buNone/>
            </a:pPr>
            <a:r>
              <a:rPr lang="en" sz="1800">
                <a:solidFill>
                  <a:srgbClr val="666666"/>
                </a:solidFill>
                <a:latin typeface="Helvetica Neue"/>
                <a:ea typeface="Helvetica Neue"/>
                <a:cs typeface="Helvetica Neue"/>
                <a:sym typeface="Helvetica Neue"/>
              </a:rPr>
              <a:t>Building on its Varied Features</a:t>
            </a:r>
            <a:endParaRPr b="0" i="0" sz="1800" u="none" cap="none" strike="noStrike">
              <a:solidFill>
                <a:srgbClr val="666666"/>
              </a:solidFill>
              <a:latin typeface="Helvetica Neue"/>
              <a:ea typeface="Helvetica Neue"/>
              <a:cs typeface="Helvetica Neue"/>
              <a:sym typeface="Helvetica Neue"/>
            </a:endParaRPr>
          </a:p>
        </p:txBody>
      </p:sp>
      <p:sp>
        <p:nvSpPr>
          <p:cNvPr id="110" name="Google Shape;110;g37a0610d726_3_0"/>
          <p:cNvSpPr txBox="1"/>
          <p:nvPr/>
        </p:nvSpPr>
        <p:spPr>
          <a:xfrm>
            <a:off x="488525" y="1100225"/>
            <a:ext cx="4579800" cy="3471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lang="en" sz="1300">
                <a:solidFill>
                  <a:schemeClr val="dk1"/>
                </a:solidFill>
                <a:latin typeface="Helvetica Neue"/>
                <a:ea typeface="Helvetica Neue"/>
                <a:cs typeface="Helvetica Neue"/>
                <a:sym typeface="Helvetica Neue"/>
              </a:rPr>
              <a:t>5.</a:t>
            </a:r>
            <a:r>
              <a:rPr b="1" lang="en" sz="1300">
                <a:solidFill>
                  <a:schemeClr val="dk1"/>
                </a:solidFill>
                <a:latin typeface="Helvetica Neue"/>
                <a:ea typeface="Helvetica Neue"/>
                <a:cs typeface="Helvetica Neue"/>
                <a:sym typeface="Helvetica Neue"/>
              </a:rPr>
              <a:t> Bite-sized practice: </a:t>
            </a:r>
            <a:r>
              <a:rPr lang="en" sz="1300">
                <a:solidFill>
                  <a:schemeClr val="dk1"/>
                </a:solidFill>
                <a:latin typeface="Helvetica Neue"/>
                <a:ea typeface="Helvetica Neue"/>
                <a:cs typeface="Helvetica Neue"/>
                <a:sym typeface="Helvetica Neue"/>
              </a:rPr>
              <a:t>The AI provides teachers with chunked practice-based learning modules that fit teacher’s schedule and needs. </a:t>
            </a:r>
            <a:endParaRPr sz="1300">
              <a:solidFill>
                <a:schemeClr val="dk1"/>
              </a:solidFill>
              <a:latin typeface="Helvetica Neue"/>
              <a:ea typeface="Helvetica Neue"/>
              <a:cs typeface="Helvetica Neue"/>
              <a:sym typeface="Helvetica Neue"/>
            </a:endParaRPr>
          </a:p>
          <a:p>
            <a:pPr indent="0" lvl="0" marL="0" marR="0" rtl="0" algn="l">
              <a:lnSpc>
                <a:spcPct val="115000"/>
              </a:lnSpc>
              <a:spcBef>
                <a:spcPts val="0"/>
              </a:spcBef>
              <a:spcAft>
                <a:spcPts val="0"/>
              </a:spcAft>
              <a:buNone/>
            </a:pPr>
            <a:r>
              <a:rPr lang="en" sz="1300">
                <a:solidFill>
                  <a:schemeClr val="dk1"/>
                </a:solidFill>
                <a:latin typeface="Helvetica Neue"/>
                <a:ea typeface="Helvetica Neue"/>
                <a:cs typeface="Helvetica Neue"/>
                <a:sym typeface="Helvetica Neue"/>
              </a:rPr>
              <a:t>6. </a:t>
            </a:r>
            <a:r>
              <a:rPr b="1" lang="en" sz="1300">
                <a:solidFill>
                  <a:schemeClr val="dk1"/>
                </a:solidFill>
                <a:latin typeface="Helvetica Neue"/>
                <a:ea typeface="Helvetica Neue"/>
                <a:cs typeface="Helvetica Neue"/>
                <a:sym typeface="Helvetica Neue"/>
              </a:rPr>
              <a:t>Evidence of Growth:</a:t>
            </a:r>
            <a:r>
              <a:rPr lang="en" sz="1300">
                <a:solidFill>
                  <a:schemeClr val="dk1"/>
                </a:solidFill>
                <a:latin typeface="Helvetica Neue"/>
                <a:ea typeface="Helvetica Neue"/>
                <a:cs typeface="Helvetica Neue"/>
                <a:sym typeface="Helvetica Neue"/>
              </a:rPr>
              <a:t> RafiqAI tracks and documents teacher progress with AI dashboards, which can be shared with school leadership and coach</a:t>
            </a:r>
            <a:endParaRPr sz="1100">
              <a:solidFill>
                <a:srgbClr val="999999"/>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lang="en" sz="1300">
                <a:solidFill>
                  <a:schemeClr val="dk1"/>
                </a:solidFill>
                <a:latin typeface="Helvetica Neue"/>
                <a:ea typeface="Helvetica Neue"/>
                <a:cs typeface="Helvetica Neue"/>
                <a:sym typeface="Helvetica Neue"/>
              </a:rPr>
              <a:t>7.</a:t>
            </a:r>
            <a:r>
              <a:rPr b="1" lang="en" sz="1300">
                <a:solidFill>
                  <a:schemeClr val="dk1"/>
                </a:solidFill>
                <a:latin typeface="Helvetica Neue"/>
                <a:ea typeface="Helvetica Neue"/>
                <a:cs typeface="Helvetica Neue"/>
                <a:sym typeface="Helvetica Neue"/>
              </a:rPr>
              <a:t> </a:t>
            </a:r>
            <a:r>
              <a:rPr b="1" lang="en" sz="1300">
                <a:solidFill>
                  <a:schemeClr val="dk1"/>
                </a:solidFill>
                <a:latin typeface="Helvetica Neue"/>
                <a:ea typeface="Helvetica Neue"/>
                <a:cs typeface="Helvetica Neue"/>
                <a:sym typeface="Helvetica Neue"/>
              </a:rPr>
              <a:t>Peer Squad chat: </a:t>
            </a:r>
            <a:r>
              <a:rPr lang="en" sz="1300">
                <a:solidFill>
                  <a:schemeClr val="dk1"/>
                </a:solidFill>
                <a:latin typeface="Helvetica Neue"/>
                <a:ea typeface="Helvetica Neue"/>
                <a:cs typeface="Helvetica Neue"/>
                <a:sym typeface="Helvetica Neue"/>
              </a:rPr>
              <a:t>Teachers can share challenges and experiences with other teachers and get support</a:t>
            </a:r>
            <a:endParaRPr sz="13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lang="en" sz="1300">
                <a:solidFill>
                  <a:schemeClr val="dk1"/>
                </a:solidFill>
                <a:latin typeface="Helvetica Neue"/>
                <a:ea typeface="Helvetica Neue"/>
                <a:cs typeface="Helvetica Neue"/>
                <a:sym typeface="Helvetica Neue"/>
              </a:rPr>
              <a:t>8. </a:t>
            </a:r>
            <a:r>
              <a:rPr b="1" lang="en" sz="1300">
                <a:solidFill>
                  <a:schemeClr val="dk1"/>
                </a:solidFill>
                <a:latin typeface="Helvetica Neue"/>
                <a:ea typeface="Helvetica Neue"/>
                <a:cs typeface="Helvetica Neue"/>
                <a:sym typeface="Helvetica Neue"/>
              </a:rPr>
              <a:t>Personalized lesson refinement:</a:t>
            </a:r>
            <a:r>
              <a:rPr lang="en" sz="1300">
                <a:solidFill>
                  <a:schemeClr val="dk1"/>
                </a:solidFill>
                <a:latin typeface="Helvetica Neue"/>
                <a:ea typeface="Helvetica Neue"/>
                <a:cs typeface="Helvetica Neue"/>
                <a:sym typeface="Helvetica Neue"/>
              </a:rPr>
              <a:t> The AI suggests differentiated activities to engage all learners based on input from teacher, provides coaching tips to implement the activities</a:t>
            </a:r>
            <a:endParaRPr sz="1300">
              <a:solidFill>
                <a:schemeClr val="dk1"/>
              </a:solidFill>
              <a:latin typeface="Helvetica Neue"/>
              <a:ea typeface="Helvetica Neue"/>
              <a:cs typeface="Helvetica Neue"/>
              <a:sym typeface="Helvetica Neue"/>
            </a:endParaRPr>
          </a:p>
          <a:p>
            <a:pPr indent="0" lvl="0" marL="0" marR="0" rtl="0" algn="l">
              <a:lnSpc>
                <a:spcPct val="115000"/>
              </a:lnSpc>
              <a:spcBef>
                <a:spcPts val="0"/>
              </a:spcBef>
              <a:spcAft>
                <a:spcPts val="0"/>
              </a:spcAft>
              <a:buNone/>
            </a:pPr>
            <a:r>
              <a:t/>
            </a:r>
            <a:endParaRPr sz="1100">
              <a:solidFill>
                <a:srgbClr val="999999"/>
              </a:solidFill>
              <a:latin typeface="Helvetica Neue"/>
              <a:ea typeface="Helvetica Neue"/>
              <a:cs typeface="Helvetica Neue"/>
              <a:sym typeface="Helvetica Neue"/>
            </a:endParaRPr>
          </a:p>
        </p:txBody>
      </p:sp>
      <p:sp>
        <p:nvSpPr>
          <p:cNvPr id="111" name="Google Shape;111;g37a0610d726_3_0"/>
          <p:cNvSpPr/>
          <p:nvPr/>
        </p:nvSpPr>
        <p:spPr>
          <a:xfrm>
            <a:off x="5719700" y="1603375"/>
            <a:ext cx="2783700" cy="3102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7a0610d726_3_0"/>
          <p:cNvSpPr txBox="1"/>
          <p:nvPr/>
        </p:nvSpPr>
        <p:spPr>
          <a:xfrm>
            <a:off x="6154575" y="2379450"/>
            <a:ext cx="740100" cy="384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1100"/>
              <a:buFont typeface="Arial"/>
              <a:buNone/>
            </a:pPr>
            <a:r>
              <a:rPr b="1" i="0" lang="en" sz="1100" u="none" cap="none" strike="noStrike">
                <a:solidFill>
                  <a:srgbClr val="999999"/>
                </a:solidFill>
                <a:latin typeface="Gothic A1"/>
                <a:ea typeface="Gothic A1"/>
                <a:cs typeface="Gothic A1"/>
                <a:sym typeface="Gothic A1"/>
              </a:rPr>
              <a:t>Add graph</a:t>
            </a:r>
            <a:br>
              <a:rPr b="1" i="0" lang="en" sz="1100" u="none" cap="none" strike="noStrike">
                <a:solidFill>
                  <a:srgbClr val="999999"/>
                </a:solidFill>
                <a:latin typeface="Gothic A1"/>
                <a:ea typeface="Gothic A1"/>
                <a:cs typeface="Gothic A1"/>
                <a:sym typeface="Gothic A1"/>
              </a:rPr>
            </a:br>
            <a:r>
              <a:rPr b="1" i="0" lang="en" sz="1100" u="none" cap="none" strike="noStrike">
                <a:solidFill>
                  <a:srgbClr val="999999"/>
                </a:solidFill>
                <a:latin typeface="Gothic A1"/>
                <a:ea typeface="Gothic A1"/>
                <a:cs typeface="Gothic A1"/>
                <a:sym typeface="Gothic A1"/>
              </a:rPr>
              <a:t>or image</a:t>
            </a:r>
            <a:endParaRPr b="0" i="0" sz="1100" u="none" cap="none" strike="noStrike">
              <a:solidFill>
                <a:srgbClr val="999999"/>
              </a:solidFill>
              <a:latin typeface="Gothic A1"/>
              <a:ea typeface="Gothic A1"/>
              <a:cs typeface="Gothic A1"/>
              <a:sym typeface="Gothic A1"/>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8"/>
          <p:cNvSpPr/>
          <p:nvPr/>
        </p:nvSpPr>
        <p:spPr>
          <a:xfrm>
            <a:off x="5870800" y="1866100"/>
            <a:ext cx="2723700" cy="28014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8">
            <a:hlinkClick r:id="rId3"/>
          </p:cNvPr>
          <p:cNvSpPr txBox="1"/>
          <p:nvPr/>
        </p:nvSpPr>
        <p:spPr>
          <a:xfrm>
            <a:off x="447575" y="476250"/>
            <a:ext cx="8146800" cy="49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400"/>
              <a:buFont typeface="Arial"/>
              <a:buNone/>
            </a:pPr>
            <a:r>
              <a:rPr b="0" i="0" lang="en" sz="1800" u="none" cap="none" strike="noStrike">
                <a:solidFill>
                  <a:srgbClr val="666666"/>
                </a:solidFill>
                <a:latin typeface="Helvetica Neue"/>
                <a:ea typeface="Helvetica Neue"/>
                <a:cs typeface="Helvetica Neue"/>
                <a:sym typeface="Helvetica Neue"/>
              </a:rPr>
              <a:t>A </a:t>
            </a:r>
            <a:r>
              <a:rPr b="1" lang="en" sz="1800">
                <a:solidFill>
                  <a:srgbClr val="666666"/>
                </a:solidFill>
                <a:latin typeface="Helvetica Neue"/>
                <a:ea typeface="Helvetica Neue"/>
                <a:cs typeface="Helvetica Neue"/>
                <a:sym typeface="Helvetica Neue"/>
              </a:rPr>
              <a:t>$115</a:t>
            </a:r>
            <a:r>
              <a:rPr b="1" i="0" lang="en" sz="1800" u="none" cap="none" strike="noStrike">
                <a:solidFill>
                  <a:srgbClr val="666666"/>
                </a:solidFill>
                <a:latin typeface="Helvetica Neue"/>
                <a:ea typeface="Helvetica Neue"/>
                <a:cs typeface="Helvetica Neue"/>
                <a:sym typeface="Helvetica Neue"/>
              </a:rPr>
              <a:t> billion</a:t>
            </a:r>
            <a:r>
              <a:rPr b="0" i="0" lang="en" sz="1800" u="none" cap="none" strike="noStrike">
                <a:solidFill>
                  <a:srgbClr val="666666"/>
                </a:solidFill>
                <a:latin typeface="Helvetica Neue"/>
                <a:ea typeface="Helvetica Neue"/>
                <a:cs typeface="Helvetica Neue"/>
                <a:sym typeface="Helvetica Neue"/>
              </a:rPr>
              <a:t> market spanning </a:t>
            </a:r>
            <a:r>
              <a:rPr lang="en" sz="1800">
                <a:solidFill>
                  <a:srgbClr val="666666"/>
                </a:solidFill>
                <a:latin typeface="Helvetica Neue"/>
                <a:ea typeface="Helvetica Neue"/>
                <a:cs typeface="Helvetica Neue"/>
                <a:sym typeface="Helvetica Neue"/>
              </a:rPr>
              <a:t>Arab World and North Africa, </a:t>
            </a:r>
            <a:r>
              <a:rPr b="1" lang="en" sz="1800">
                <a:solidFill>
                  <a:srgbClr val="666666"/>
                </a:solidFill>
                <a:latin typeface="Helvetica Neue"/>
                <a:ea typeface="Helvetica Neue"/>
                <a:cs typeface="Helvetica Neue"/>
                <a:sym typeface="Helvetica Neue"/>
              </a:rPr>
              <a:t>7-8 million</a:t>
            </a:r>
            <a:r>
              <a:rPr lang="en" sz="1800">
                <a:solidFill>
                  <a:srgbClr val="666666"/>
                </a:solidFill>
                <a:latin typeface="Helvetica Neue"/>
                <a:ea typeface="Helvetica Neue"/>
                <a:cs typeface="Helvetica Neue"/>
                <a:sym typeface="Helvetica Neue"/>
              </a:rPr>
              <a:t> in service teachers</a:t>
            </a:r>
            <a:endParaRPr sz="1800">
              <a:solidFill>
                <a:srgbClr val="666666"/>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3400"/>
              <a:buFont typeface="Arial"/>
              <a:buNone/>
            </a:pPr>
            <a:r>
              <a:t/>
            </a:r>
            <a:endParaRPr sz="1800">
              <a:solidFill>
                <a:srgbClr val="666666"/>
              </a:solidFill>
              <a:latin typeface="Helvetica Neue"/>
              <a:ea typeface="Helvetica Neue"/>
              <a:cs typeface="Helvetica Neue"/>
              <a:sym typeface="Helvetica Neue"/>
            </a:endParaRPr>
          </a:p>
        </p:txBody>
      </p:sp>
      <p:sp>
        <p:nvSpPr>
          <p:cNvPr id="119" name="Google Shape;119;p8"/>
          <p:cNvSpPr txBox="1"/>
          <p:nvPr/>
        </p:nvSpPr>
        <p:spPr>
          <a:xfrm>
            <a:off x="488525" y="971550"/>
            <a:ext cx="4444500" cy="40215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The overall education market in </a:t>
            </a:r>
            <a:r>
              <a:rPr lang="en" sz="1200">
                <a:solidFill>
                  <a:schemeClr val="dk1"/>
                </a:solidFill>
                <a:highlight>
                  <a:srgbClr val="FFFF00"/>
                </a:highlight>
                <a:latin typeface="Roboto"/>
                <a:ea typeface="Roboto"/>
                <a:cs typeface="Roboto"/>
                <a:sym typeface="Roboto"/>
              </a:rPr>
              <a:t>MENA</a:t>
            </a:r>
            <a:r>
              <a:rPr lang="en" sz="1200">
                <a:solidFill>
                  <a:schemeClr val="dk1"/>
                </a:solidFill>
                <a:latin typeface="Roboto"/>
                <a:ea typeface="Roboto"/>
                <a:cs typeface="Roboto"/>
                <a:sym typeface="Roboto"/>
              </a:rPr>
              <a:t> is currently valued at about </a:t>
            </a:r>
            <a:r>
              <a:rPr b="1" lang="en" sz="1200">
                <a:solidFill>
                  <a:schemeClr val="dk1"/>
                </a:solidFill>
                <a:latin typeface="Roboto"/>
                <a:ea typeface="Roboto"/>
                <a:cs typeface="Roboto"/>
                <a:sym typeface="Roboto"/>
              </a:rPr>
              <a:t>$115 billion </a:t>
            </a:r>
            <a:r>
              <a:rPr lang="en" sz="1200">
                <a:solidFill>
                  <a:schemeClr val="dk1"/>
                </a:solidFill>
                <a:latin typeface="Roboto"/>
                <a:ea typeface="Roboto"/>
                <a:cs typeface="Roboto"/>
                <a:sym typeface="Roboto"/>
              </a:rPr>
              <a:t>and is projected to reach </a:t>
            </a:r>
            <a:r>
              <a:rPr b="1" lang="en" sz="1200">
                <a:solidFill>
                  <a:schemeClr val="dk1"/>
                </a:solidFill>
                <a:latin typeface="Roboto"/>
                <a:ea typeface="Roboto"/>
                <a:cs typeface="Roboto"/>
                <a:sym typeface="Roboto"/>
              </a:rPr>
              <a:t>$175 billion</a:t>
            </a:r>
            <a:r>
              <a:rPr lang="en" sz="1200">
                <a:solidFill>
                  <a:schemeClr val="dk1"/>
                </a:solidFill>
                <a:latin typeface="Roboto"/>
                <a:ea typeface="Roboto"/>
                <a:cs typeface="Roboto"/>
                <a:sym typeface="Roboto"/>
              </a:rPr>
              <a:t> by 2027</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Economic transformation programs (like Saudi Vision 2030) and national digital talent strategies in leading markets (UAE, Saudi Arabia, Egypt) accelerate spending on educator development.</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b="1" lang="en" sz="1200">
                <a:solidFill>
                  <a:schemeClr val="dk1"/>
                </a:solidFill>
                <a:latin typeface="Roboto"/>
                <a:ea typeface="Roboto"/>
                <a:cs typeface="Roboto"/>
                <a:sym typeface="Roboto"/>
              </a:rPr>
              <a:t>EdTech and digital platforms </a:t>
            </a:r>
            <a:r>
              <a:rPr lang="en" sz="1200">
                <a:solidFill>
                  <a:schemeClr val="dk1"/>
                </a:solidFill>
                <a:latin typeface="Roboto"/>
                <a:ea typeface="Roboto"/>
                <a:cs typeface="Roboto"/>
                <a:sym typeface="Roboto"/>
              </a:rPr>
              <a:t>adoption is surging, supported by over </a:t>
            </a:r>
            <a:r>
              <a:rPr b="1" lang="en" sz="1200">
                <a:solidFill>
                  <a:schemeClr val="dk1"/>
                </a:solidFill>
                <a:latin typeface="Roboto"/>
                <a:ea typeface="Roboto"/>
                <a:cs typeface="Roboto"/>
                <a:sym typeface="Roboto"/>
              </a:rPr>
              <a:t>$1.5 billion in venture investment just in Q1 2025</a:t>
            </a:r>
            <a:r>
              <a:rPr lang="en" sz="1200">
                <a:solidFill>
                  <a:schemeClr val="dk1"/>
                </a:solidFill>
                <a:latin typeface="Roboto"/>
                <a:ea typeface="Roboto"/>
                <a:cs typeface="Roboto"/>
                <a:sym typeface="Roboto"/>
              </a:rPr>
              <a:t>, reflecting the region's prioritization of scalable teacher and professional training</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There are approximately </a:t>
            </a:r>
            <a:r>
              <a:rPr b="1" lang="en" sz="1200">
                <a:solidFill>
                  <a:schemeClr val="dk1"/>
                </a:solidFill>
                <a:latin typeface="Roboto"/>
                <a:ea typeface="Roboto"/>
                <a:cs typeface="Roboto"/>
                <a:sym typeface="Roboto"/>
              </a:rPr>
              <a:t>7-8 million in-service teachers</a:t>
            </a:r>
            <a:r>
              <a:rPr lang="en" sz="1200">
                <a:solidFill>
                  <a:schemeClr val="dk1"/>
                </a:solidFill>
                <a:latin typeface="Roboto"/>
                <a:ea typeface="Roboto"/>
                <a:cs typeface="Roboto"/>
                <a:sym typeface="Roboto"/>
              </a:rPr>
              <a:t> and over</a:t>
            </a:r>
            <a:r>
              <a:rPr b="1" lang="en" sz="1200">
                <a:solidFill>
                  <a:schemeClr val="dk1"/>
                </a:solidFill>
                <a:latin typeface="Roboto"/>
                <a:ea typeface="Roboto"/>
                <a:cs typeface="Roboto"/>
                <a:sym typeface="Roboto"/>
              </a:rPr>
              <a:t> 100 million students </a:t>
            </a:r>
            <a:r>
              <a:rPr lang="en" sz="1200">
                <a:solidFill>
                  <a:schemeClr val="dk1"/>
                </a:solidFill>
                <a:latin typeface="Roboto"/>
                <a:ea typeface="Roboto"/>
                <a:cs typeface="Roboto"/>
                <a:sym typeface="Roboto"/>
              </a:rPr>
              <a:t>in the Arab region and North Africa (MENA) in </a:t>
            </a:r>
            <a:r>
              <a:rPr b="1" lang="en" sz="1200">
                <a:solidFill>
                  <a:schemeClr val="dk1"/>
                </a:solidFill>
                <a:latin typeface="Roboto"/>
                <a:ea typeface="Roboto"/>
                <a:cs typeface="Roboto"/>
                <a:sym typeface="Roboto"/>
              </a:rPr>
              <a:t>2025</a:t>
            </a:r>
            <a:r>
              <a:rPr lang="en" sz="1200">
                <a:solidFill>
                  <a:schemeClr val="dk1"/>
                </a:solidFill>
                <a:latin typeface="Roboto"/>
                <a:ea typeface="Roboto"/>
                <a:cs typeface="Roboto"/>
                <a:sym typeface="Roboto"/>
              </a:rPr>
              <a:t>, reflecting one of the world's largest youth and education sectors.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Sources: </a:t>
            </a:r>
            <a:endParaRPr sz="1200">
              <a:solidFill>
                <a:schemeClr val="dk1"/>
              </a:solidFill>
              <a:latin typeface="Roboto"/>
              <a:ea typeface="Roboto"/>
              <a:cs typeface="Roboto"/>
              <a:sym typeface="Roboto"/>
            </a:endParaRPr>
          </a:p>
          <a:p>
            <a:pPr indent="-292100" lvl="1" marL="914400" rtl="0" algn="l">
              <a:lnSpc>
                <a:spcPct val="115000"/>
              </a:lnSpc>
              <a:spcBef>
                <a:spcPts val="0"/>
              </a:spcBef>
              <a:spcAft>
                <a:spcPts val="0"/>
              </a:spcAft>
              <a:buClr>
                <a:schemeClr val="dk1"/>
              </a:buClr>
              <a:buSzPts val="1000"/>
              <a:buFont typeface="Roboto"/>
              <a:buChar char="○"/>
            </a:pPr>
            <a:r>
              <a:rPr lang="en" sz="1000" u="sng">
                <a:solidFill>
                  <a:schemeClr val="hlink"/>
                </a:solidFill>
                <a:latin typeface="Roboto"/>
                <a:ea typeface="Roboto"/>
                <a:cs typeface="Roboto"/>
                <a:sym typeface="Roboto"/>
                <a:hlinkClick r:id="rId4"/>
              </a:rPr>
              <a:t>https://www.marketreportanalytics.com/reports/professional-development-market-6145#</a:t>
            </a:r>
            <a:endParaRPr sz="1000">
              <a:solidFill>
                <a:schemeClr val="dk1"/>
              </a:solidFill>
              <a:latin typeface="Roboto"/>
              <a:ea typeface="Roboto"/>
              <a:cs typeface="Roboto"/>
              <a:sym typeface="Roboto"/>
            </a:endParaRPr>
          </a:p>
          <a:p>
            <a:pPr indent="-292100" lvl="1" marL="914400" rtl="0" algn="l">
              <a:lnSpc>
                <a:spcPct val="115000"/>
              </a:lnSpc>
              <a:spcBef>
                <a:spcPts val="0"/>
              </a:spcBef>
              <a:spcAft>
                <a:spcPts val="0"/>
              </a:spcAft>
              <a:buClr>
                <a:schemeClr val="dk1"/>
              </a:buClr>
              <a:buSzPts val="1000"/>
              <a:buFont typeface="Roboto"/>
              <a:buChar char="○"/>
            </a:pPr>
            <a:r>
              <a:rPr lang="en" sz="1000" u="sng">
                <a:solidFill>
                  <a:schemeClr val="hlink"/>
                </a:solidFill>
                <a:latin typeface="Roboto"/>
                <a:ea typeface="Roboto"/>
                <a:cs typeface="Roboto"/>
                <a:sym typeface="Roboto"/>
                <a:hlinkClick r:id="rId5"/>
              </a:rPr>
              <a:t>https://digitaldefynd.com/IQ/mena-executive-education-statistics/</a:t>
            </a:r>
            <a:endParaRPr sz="1000">
              <a:solidFill>
                <a:schemeClr val="dk1"/>
              </a:solidFill>
              <a:latin typeface="Roboto"/>
              <a:ea typeface="Roboto"/>
              <a:cs typeface="Roboto"/>
              <a:sym typeface="Roboto"/>
            </a:endParaRPr>
          </a:p>
        </p:txBody>
      </p:sp>
      <p:sp>
        <p:nvSpPr>
          <p:cNvPr id="120" name="Google Shape;120;p8"/>
          <p:cNvSpPr txBox="1"/>
          <p:nvPr/>
        </p:nvSpPr>
        <p:spPr>
          <a:xfrm>
            <a:off x="6154575" y="2379450"/>
            <a:ext cx="740100" cy="384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1100"/>
              <a:buFont typeface="Arial"/>
              <a:buNone/>
            </a:pPr>
            <a:r>
              <a:rPr b="1" i="0" lang="en" sz="1100" u="none" cap="none" strike="noStrike">
                <a:solidFill>
                  <a:srgbClr val="999999"/>
                </a:solidFill>
                <a:latin typeface="Gothic A1"/>
                <a:ea typeface="Gothic A1"/>
                <a:cs typeface="Gothic A1"/>
                <a:sym typeface="Gothic A1"/>
              </a:rPr>
              <a:t>Add graph</a:t>
            </a:r>
            <a:br>
              <a:rPr b="1" i="0" lang="en" sz="1100" u="none" cap="none" strike="noStrike">
                <a:solidFill>
                  <a:srgbClr val="999999"/>
                </a:solidFill>
                <a:latin typeface="Gothic A1"/>
                <a:ea typeface="Gothic A1"/>
                <a:cs typeface="Gothic A1"/>
                <a:sym typeface="Gothic A1"/>
              </a:rPr>
            </a:br>
            <a:r>
              <a:rPr b="1" i="0" lang="en" sz="1100" u="none" cap="none" strike="noStrike">
                <a:solidFill>
                  <a:srgbClr val="999999"/>
                </a:solidFill>
                <a:latin typeface="Gothic A1"/>
                <a:ea typeface="Gothic A1"/>
                <a:cs typeface="Gothic A1"/>
                <a:sym typeface="Gothic A1"/>
              </a:rPr>
              <a:t>or image</a:t>
            </a:r>
            <a:endParaRPr b="0" i="0" sz="1100" u="none" cap="none" strike="noStrike">
              <a:solidFill>
                <a:srgbClr val="999999"/>
              </a:solidFill>
              <a:latin typeface="Gothic A1"/>
              <a:ea typeface="Gothic A1"/>
              <a:cs typeface="Gothic A1"/>
              <a:sym typeface="Gothic A1"/>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37a0610d726_3_49"/>
          <p:cNvSpPr/>
          <p:nvPr/>
        </p:nvSpPr>
        <p:spPr>
          <a:xfrm>
            <a:off x="5870800" y="1866100"/>
            <a:ext cx="2723700" cy="28014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g37a0610d726_3_49">
            <a:hlinkClick r:id="rId3"/>
          </p:cNvPr>
          <p:cNvSpPr txBox="1"/>
          <p:nvPr/>
        </p:nvSpPr>
        <p:spPr>
          <a:xfrm>
            <a:off x="447575" y="476250"/>
            <a:ext cx="6828000" cy="49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400"/>
              <a:buFont typeface="Arial"/>
              <a:buNone/>
            </a:pPr>
            <a:r>
              <a:rPr lang="en" sz="1800">
                <a:solidFill>
                  <a:srgbClr val="666666"/>
                </a:solidFill>
                <a:latin typeface="Helvetica Neue"/>
                <a:ea typeface="Helvetica Neue"/>
                <a:cs typeface="Helvetica Neue"/>
                <a:sym typeface="Helvetica Neue"/>
              </a:rPr>
              <a:t>And 300,00 to 500,000 Pre-service teachers</a:t>
            </a:r>
            <a:endParaRPr b="0" i="0" sz="1800" u="none" cap="none" strike="noStrike">
              <a:solidFill>
                <a:srgbClr val="666666"/>
              </a:solidFill>
              <a:latin typeface="Helvetica Neue"/>
              <a:ea typeface="Helvetica Neue"/>
              <a:cs typeface="Helvetica Neue"/>
              <a:sym typeface="Helvetica Neue"/>
            </a:endParaRPr>
          </a:p>
        </p:txBody>
      </p:sp>
      <p:sp>
        <p:nvSpPr>
          <p:cNvPr id="127" name="Google Shape;127;g37a0610d726_3_49"/>
          <p:cNvSpPr txBox="1"/>
          <p:nvPr/>
        </p:nvSpPr>
        <p:spPr>
          <a:xfrm>
            <a:off x="488525" y="1100225"/>
            <a:ext cx="4444500" cy="38928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Teacher education programs are an extended market that could benefit from the features of RafiqAI. The practicum component of teacher ed programs involves supervision and mentoring similar to observations and coaching</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the Arab region and North Africa sustain a pipeline of about</a:t>
            </a:r>
            <a:r>
              <a:rPr b="1" lang="en" sz="1200">
                <a:solidFill>
                  <a:schemeClr val="dk1"/>
                </a:solidFill>
                <a:latin typeface="Roboto"/>
                <a:ea typeface="Roboto"/>
                <a:cs typeface="Roboto"/>
                <a:sym typeface="Roboto"/>
              </a:rPr>
              <a:t> 300,000 to 500,000 pre-service teachers</a:t>
            </a:r>
            <a:r>
              <a:rPr lang="en" sz="1200">
                <a:solidFill>
                  <a:schemeClr val="dk1"/>
                </a:solidFill>
                <a:latin typeface="Roboto"/>
                <a:ea typeface="Roboto"/>
                <a:cs typeface="Roboto"/>
                <a:sym typeface="Roboto"/>
              </a:rPr>
              <a:t> annually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Supervision of pre-service teachers, usually through </a:t>
            </a:r>
            <a:r>
              <a:rPr b="1" lang="en" sz="1200">
                <a:solidFill>
                  <a:schemeClr val="dk1"/>
                </a:solidFill>
                <a:latin typeface="Roboto"/>
                <a:ea typeface="Roboto"/>
                <a:cs typeface="Roboto"/>
                <a:sym typeface="Roboto"/>
              </a:rPr>
              <a:t>guided practicums</a:t>
            </a:r>
            <a:r>
              <a:rPr lang="en" sz="1200">
                <a:solidFill>
                  <a:schemeClr val="dk1"/>
                </a:solidFill>
                <a:latin typeface="Roboto"/>
                <a:ea typeface="Roboto"/>
                <a:cs typeface="Roboto"/>
                <a:sym typeface="Roboto"/>
              </a:rPr>
              <a:t>,</a:t>
            </a:r>
            <a:r>
              <a:rPr b="1" lang="en" sz="1200">
                <a:solidFill>
                  <a:schemeClr val="dk1"/>
                </a:solidFill>
                <a:latin typeface="Roboto"/>
                <a:ea typeface="Roboto"/>
                <a:cs typeface="Roboto"/>
                <a:sym typeface="Roboto"/>
              </a:rPr>
              <a:t> mentorship</a:t>
            </a:r>
            <a:r>
              <a:rPr lang="en" sz="1200">
                <a:solidFill>
                  <a:schemeClr val="dk1"/>
                </a:solidFill>
                <a:latin typeface="Roboto"/>
                <a:ea typeface="Roboto"/>
                <a:cs typeface="Roboto"/>
                <a:sym typeface="Roboto"/>
              </a:rPr>
              <a:t>, and </a:t>
            </a:r>
            <a:r>
              <a:rPr b="1" lang="en" sz="1200">
                <a:solidFill>
                  <a:schemeClr val="dk1"/>
                </a:solidFill>
                <a:latin typeface="Roboto"/>
                <a:ea typeface="Roboto"/>
                <a:cs typeface="Roboto"/>
                <a:sym typeface="Roboto"/>
              </a:rPr>
              <a:t>teaching practice placements</a:t>
            </a:r>
            <a:r>
              <a:rPr lang="en" sz="1200">
                <a:solidFill>
                  <a:schemeClr val="dk1"/>
                </a:solidFill>
                <a:latin typeface="Roboto"/>
                <a:ea typeface="Roboto"/>
                <a:cs typeface="Roboto"/>
                <a:sym typeface="Roboto"/>
              </a:rPr>
              <a:t>, is a standard component in teacher education programs across many countries in the Arab region and North Africa, especially in</a:t>
            </a:r>
            <a:r>
              <a:rPr b="1" lang="en" sz="1200">
                <a:solidFill>
                  <a:schemeClr val="dk1"/>
                </a:solidFill>
                <a:latin typeface="Roboto"/>
                <a:ea typeface="Roboto"/>
                <a:cs typeface="Roboto"/>
                <a:sym typeface="Roboto"/>
              </a:rPr>
              <a:t> Saudi Arabia, United Arab Emirates (UAE), Kuwait, and Jordan</a:t>
            </a:r>
            <a:r>
              <a:rPr lang="en" sz="1200">
                <a:solidFill>
                  <a:schemeClr val="dk1"/>
                </a:solidFill>
                <a:latin typeface="Roboto"/>
                <a:ea typeface="Roboto"/>
                <a:cs typeface="Roboto"/>
                <a:sym typeface="Roboto"/>
              </a:rPr>
              <a:t>.</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Sources:</a:t>
            </a:r>
            <a:r>
              <a:rPr lang="en" sz="1200" u="sng">
                <a:solidFill>
                  <a:schemeClr val="hlink"/>
                </a:solidFill>
                <a:latin typeface="Roboto"/>
                <a:ea typeface="Roboto"/>
                <a:cs typeface="Roboto"/>
                <a:sym typeface="Roboto"/>
                <a:hlinkClick r:id="rId4"/>
              </a:rPr>
              <a:t>https://teachertaskforce.org/sites/default/files/2022-08/2021_Zaalouk_UNESCO_TPD-Arab-States-during-COVID-19-pandemic_EN.pdf</a:t>
            </a:r>
            <a:endParaRPr sz="1200">
              <a:solidFill>
                <a:schemeClr val="dk1"/>
              </a:solidFill>
              <a:latin typeface="Roboto"/>
              <a:ea typeface="Roboto"/>
              <a:cs typeface="Roboto"/>
              <a:sym typeface="Roboto"/>
            </a:endParaRPr>
          </a:p>
        </p:txBody>
      </p:sp>
      <p:sp>
        <p:nvSpPr>
          <p:cNvPr id="128" name="Google Shape;128;g37a0610d726_3_49"/>
          <p:cNvSpPr txBox="1"/>
          <p:nvPr/>
        </p:nvSpPr>
        <p:spPr>
          <a:xfrm>
            <a:off x="6154575" y="2379450"/>
            <a:ext cx="740100" cy="384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1100"/>
              <a:buFont typeface="Arial"/>
              <a:buNone/>
            </a:pPr>
            <a:r>
              <a:rPr b="1" i="0" lang="en" sz="1100" u="none" cap="none" strike="noStrike">
                <a:solidFill>
                  <a:srgbClr val="999999"/>
                </a:solidFill>
                <a:latin typeface="Gothic A1"/>
                <a:ea typeface="Gothic A1"/>
                <a:cs typeface="Gothic A1"/>
                <a:sym typeface="Gothic A1"/>
              </a:rPr>
              <a:t>Add graph</a:t>
            </a:r>
            <a:br>
              <a:rPr b="1" i="0" lang="en" sz="1100" u="none" cap="none" strike="noStrike">
                <a:solidFill>
                  <a:srgbClr val="999999"/>
                </a:solidFill>
                <a:latin typeface="Gothic A1"/>
                <a:ea typeface="Gothic A1"/>
                <a:cs typeface="Gothic A1"/>
                <a:sym typeface="Gothic A1"/>
              </a:rPr>
            </a:br>
            <a:r>
              <a:rPr b="1" i="0" lang="en" sz="1100" u="none" cap="none" strike="noStrike">
                <a:solidFill>
                  <a:srgbClr val="999999"/>
                </a:solidFill>
                <a:latin typeface="Gothic A1"/>
                <a:ea typeface="Gothic A1"/>
                <a:cs typeface="Gothic A1"/>
                <a:sym typeface="Gothic A1"/>
              </a:rPr>
              <a:t>or image</a:t>
            </a:r>
            <a:endParaRPr b="0" i="0" sz="1100" u="none" cap="none" strike="noStrike">
              <a:solidFill>
                <a:srgbClr val="999999"/>
              </a:solidFill>
              <a:latin typeface="Gothic A1"/>
              <a:ea typeface="Gothic A1"/>
              <a:cs typeface="Gothic A1"/>
              <a:sym typeface="Gothic A1"/>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7a0610d726_3_9">
            <a:hlinkClick r:id="rId3"/>
          </p:cNvPr>
          <p:cNvSpPr txBox="1"/>
          <p:nvPr/>
        </p:nvSpPr>
        <p:spPr>
          <a:xfrm>
            <a:off x="447575" y="476250"/>
            <a:ext cx="7677000" cy="49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400"/>
              <a:buFont typeface="Arial"/>
              <a:buNone/>
            </a:pPr>
            <a:r>
              <a:rPr lang="en" sz="1800">
                <a:solidFill>
                  <a:srgbClr val="666666"/>
                </a:solidFill>
                <a:latin typeface="Helvetica Neue"/>
                <a:ea typeface="Helvetica Neue"/>
                <a:cs typeface="Helvetica Neue"/>
                <a:sym typeface="Helvetica Neue"/>
              </a:rPr>
              <a:t>Previous Pilots prove teachers </a:t>
            </a:r>
            <a:r>
              <a:rPr lang="en" sz="1800">
                <a:solidFill>
                  <a:srgbClr val="666666"/>
                </a:solidFill>
                <a:latin typeface="Helvetica Neue"/>
                <a:ea typeface="Helvetica Neue"/>
                <a:cs typeface="Helvetica Neue"/>
                <a:sym typeface="Helvetica Neue"/>
              </a:rPr>
              <a:t>achieve</a:t>
            </a:r>
            <a:r>
              <a:rPr lang="en" sz="1800">
                <a:solidFill>
                  <a:srgbClr val="666666"/>
                </a:solidFill>
                <a:latin typeface="Helvetica Neue"/>
                <a:ea typeface="Helvetica Neue"/>
                <a:cs typeface="Helvetica Neue"/>
                <a:sym typeface="Helvetica Neue"/>
              </a:rPr>
              <a:t> their potential and more: ‘This makes it a good solution’</a:t>
            </a:r>
            <a:endParaRPr b="0" i="0" sz="1800" u="none" cap="none" strike="noStrike">
              <a:solidFill>
                <a:srgbClr val="666666"/>
              </a:solidFill>
              <a:latin typeface="Helvetica Neue"/>
              <a:ea typeface="Helvetica Neue"/>
              <a:cs typeface="Helvetica Neue"/>
              <a:sym typeface="Helvetica Neue"/>
            </a:endParaRPr>
          </a:p>
        </p:txBody>
      </p:sp>
      <p:sp>
        <p:nvSpPr>
          <p:cNvPr id="134" name="Google Shape;134;g37a0610d726_3_9"/>
          <p:cNvSpPr txBox="1"/>
          <p:nvPr/>
        </p:nvSpPr>
        <p:spPr>
          <a:xfrm>
            <a:off x="488525" y="1100225"/>
            <a:ext cx="4293900" cy="1758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1" lang="en" sz="1200">
                <a:solidFill>
                  <a:srgbClr val="404040"/>
                </a:solidFill>
                <a:highlight>
                  <a:srgbClr val="FFFFFF"/>
                </a:highlight>
                <a:latin typeface="Roboto"/>
                <a:ea typeface="Roboto"/>
                <a:cs typeface="Roboto"/>
                <a:sym typeface="Roboto"/>
              </a:rPr>
              <a:t>Jamila</a:t>
            </a:r>
            <a:endParaRPr b="1" sz="1100">
              <a:solidFill>
                <a:srgbClr val="999999"/>
              </a:solidFill>
              <a:latin typeface="Helvetica Neue"/>
              <a:ea typeface="Helvetica Neue"/>
              <a:cs typeface="Helvetica Neue"/>
              <a:sym typeface="Helvetica Neue"/>
            </a:endParaRPr>
          </a:p>
          <a:p>
            <a:pPr indent="0" lvl="0" marL="0" marR="0" rtl="0" algn="l">
              <a:lnSpc>
                <a:spcPct val="115000"/>
              </a:lnSpc>
              <a:spcBef>
                <a:spcPts val="0"/>
              </a:spcBef>
              <a:spcAft>
                <a:spcPts val="0"/>
              </a:spcAft>
              <a:buClr>
                <a:schemeClr val="dk1"/>
              </a:buClr>
              <a:buSzPts val="1100"/>
              <a:buFont typeface="Arial"/>
              <a:buNone/>
            </a:pPr>
            <a:r>
              <a:rPr lang="en" sz="1200">
                <a:solidFill>
                  <a:srgbClr val="404040"/>
                </a:solidFill>
                <a:highlight>
                  <a:srgbClr val="FFFFFF"/>
                </a:highlight>
                <a:latin typeface="Roboto"/>
                <a:ea typeface="Roboto"/>
                <a:cs typeface="Roboto"/>
                <a:sym typeface="Roboto"/>
              </a:rPr>
              <a:t>I once believed corporal punishment was the only way to handle difficult children, until a profound coaching session moved me to tears and helped me see the child’s perspective. This began a journey of self-directed growth, where my coach and I experimented with new methods without judgment. Coaching has become a continuous journey of mutual support, respect, and collaborative learning.</a:t>
            </a:r>
            <a:endParaRPr sz="1100">
              <a:solidFill>
                <a:srgbClr val="999999"/>
              </a:solidFill>
              <a:latin typeface="Helvetica Neue"/>
              <a:ea typeface="Helvetica Neue"/>
              <a:cs typeface="Helvetica Neue"/>
              <a:sym typeface="Helvetica Neue"/>
            </a:endParaRPr>
          </a:p>
        </p:txBody>
      </p:sp>
      <p:sp>
        <p:nvSpPr>
          <p:cNvPr id="135" name="Google Shape;135;g37a0610d726_3_9"/>
          <p:cNvSpPr txBox="1"/>
          <p:nvPr/>
        </p:nvSpPr>
        <p:spPr>
          <a:xfrm>
            <a:off x="488525" y="2972775"/>
            <a:ext cx="4624800" cy="155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1" lang="en" sz="1200">
                <a:solidFill>
                  <a:srgbClr val="404040"/>
                </a:solidFill>
                <a:highlight>
                  <a:srgbClr val="FFFFFF"/>
                </a:highlight>
                <a:latin typeface="Roboto"/>
                <a:ea typeface="Roboto"/>
                <a:cs typeface="Roboto"/>
                <a:sym typeface="Roboto"/>
              </a:rPr>
              <a:t>Rim</a:t>
            </a:r>
            <a:endParaRPr b="1" sz="1100">
              <a:solidFill>
                <a:srgbClr val="999999"/>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1100"/>
              <a:buFont typeface="Arial"/>
              <a:buNone/>
            </a:pPr>
            <a:r>
              <a:rPr lang="en" sz="1200">
                <a:solidFill>
                  <a:srgbClr val="404040"/>
                </a:solidFill>
                <a:highlight>
                  <a:srgbClr val="FFFFFF"/>
                </a:highlight>
                <a:latin typeface="Roboto"/>
                <a:ea typeface="Roboto"/>
                <a:cs typeface="Roboto"/>
                <a:sym typeface="Roboto"/>
              </a:rPr>
              <a:t>As a physical training teacher, I initially doubted how a professional development program could apply to my work outside the classroom. Through a supportive coaching relationship built on trust and methods like video reflection, I gained a new perspective and saw my role as an educator differently. This transformative journey completely changed my thinking and led me to my current role as an instructional coach for new teachers.</a:t>
            </a:r>
            <a:endParaRPr sz="1200">
              <a:solidFill>
                <a:srgbClr val="404040"/>
              </a:solidFill>
            </a:endParaRPr>
          </a:p>
          <a:p>
            <a:pPr indent="0" lvl="0" marL="0" marR="0" rtl="0" algn="l">
              <a:lnSpc>
                <a:spcPct val="115000"/>
              </a:lnSpc>
              <a:spcBef>
                <a:spcPts val="0"/>
              </a:spcBef>
              <a:spcAft>
                <a:spcPts val="0"/>
              </a:spcAft>
              <a:buClr>
                <a:schemeClr val="dk1"/>
              </a:buClr>
              <a:buSzPts val="1100"/>
              <a:buFont typeface="Arial"/>
              <a:buNone/>
            </a:pPr>
            <a:r>
              <a:t/>
            </a:r>
            <a:endParaRPr sz="1200">
              <a:solidFill>
                <a:srgbClr val="404040"/>
              </a:solidFill>
              <a:highlight>
                <a:srgbClr val="FFFFFF"/>
              </a:highlight>
              <a:latin typeface="Roboto"/>
              <a:ea typeface="Roboto"/>
              <a:cs typeface="Roboto"/>
              <a:sym typeface="Roboto"/>
            </a:endParaRPr>
          </a:p>
        </p:txBody>
      </p:sp>
      <p:sp>
        <p:nvSpPr>
          <p:cNvPr id="136" name="Google Shape;136;g37a0610d726_3_9"/>
          <p:cNvSpPr txBox="1"/>
          <p:nvPr/>
        </p:nvSpPr>
        <p:spPr>
          <a:xfrm>
            <a:off x="5730050" y="1327825"/>
            <a:ext cx="3346200" cy="2552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1" lang="en" sz="1200">
                <a:solidFill>
                  <a:srgbClr val="404040"/>
                </a:solidFill>
                <a:highlight>
                  <a:srgbClr val="FFFFFF"/>
                </a:highlight>
                <a:latin typeface="Roboto"/>
                <a:ea typeface="Roboto"/>
                <a:cs typeface="Roboto"/>
                <a:sym typeface="Roboto"/>
              </a:rPr>
              <a:t>Hana</a:t>
            </a:r>
            <a:endParaRPr b="1" sz="1100">
              <a:solidFill>
                <a:srgbClr val="999999"/>
              </a:solidFill>
              <a:latin typeface="Helvetica Neue"/>
              <a:ea typeface="Helvetica Neue"/>
              <a:cs typeface="Helvetica Neue"/>
              <a:sym typeface="Helvetica Neue"/>
            </a:endParaRPr>
          </a:p>
          <a:p>
            <a:pPr indent="0" lvl="0" marL="0" marR="0" rtl="0" algn="l">
              <a:lnSpc>
                <a:spcPct val="115000"/>
              </a:lnSpc>
              <a:spcBef>
                <a:spcPts val="0"/>
              </a:spcBef>
              <a:spcAft>
                <a:spcPts val="0"/>
              </a:spcAft>
              <a:buClr>
                <a:schemeClr val="dk1"/>
              </a:buClr>
              <a:buSzPts val="1100"/>
              <a:buFont typeface="Arial"/>
              <a:buNone/>
            </a:pPr>
            <a:r>
              <a:rPr lang="en" sz="1200">
                <a:solidFill>
                  <a:srgbClr val="404040"/>
                </a:solidFill>
                <a:highlight>
                  <a:srgbClr val="FFFFFF"/>
                </a:highlight>
                <a:latin typeface="Roboto"/>
                <a:ea typeface="Roboto"/>
                <a:cs typeface="Roboto"/>
                <a:sym typeface="Roboto"/>
              </a:rPr>
              <a:t>I have always loved teaching but felt frustrated by my inability to engage my students or manage my classroom. Through a supportive, consistent coaching relationship, I overcame my resistance to change and learned to embrace new methods of teaching. This transformation eventually led me from a struggling teacher to becoming the principal of the very same school.</a:t>
            </a:r>
            <a:endParaRPr sz="1100">
              <a:solidFill>
                <a:srgbClr val="999999"/>
              </a:solidFill>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9">
            <a:hlinkClick r:id="rId3"/>
          </p:cNvPr>
          <p:cNvSpPr txBox="1"/>
          <p:nvPr/>
        </p:nvSpPr>
        <p:spPr>
          <a:xfrm>
            <a:off x="447575" y="476250"/>
            <a:ext cx="7101000" cy="49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400"/>
              <a:buFont typeface="Arial"/>
              <a:buNone/>
            </a:pPr>
            <a:r>
              <a:rPr lang="en" sz="1800">
                <a:solidFill>
                  <a:srgbClr val="666666"/>
                </a:solidFill>
                <a:latin typeface="Helvetica Neue"/>
                <a:ea typeface="Helvetica Neue"/>
                <a:cs typeface="Helvetica Neue"/>
                <a:sym typeface="Helvetica Neue"/>
              </a:rPr>
              <a:t>We are leaders, educators, and technologists who live a mission of quality education for “ALL” </a:t>
            </a:r>
            <a:endParaRPr b="0" i="0" sz="1800" u="none" cap="none" strike="noStrike">
              <a:solidFill>
                <a:srgbClr val="666666"/>
              </a:solidFill>
              <a:latin typeface="Helvetica Neue"/>
              <a:ea typeface="Helvetica Neue"/>
              <a:cs typeface="Helvetica Neue"/>
              <a:sym typeface="Helvetica Neue"/>
            </a:endParaRPr>
          </a:p>
        </p:txBody>
      </p:sp>
      <p:sp>
        <p:nvSpPr>
          <p:cNvPr id="142" name="Google Shape;142;p9"/>
          <p:cNvSpPr txBox="1"/>
          <p:nvPr/>
        </p:nvSpPr>
        <p:spPr>
          <a:xfrm>
            <a:off x="212225" y="1091350"/>
            <a:ext cx="5466900" cy="5598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lang="en" sz="1100">
                <a:solidFill>
                  <a:srgbClr val="999999"/>
                </a:solidFill>
                <a:latin typeface="Helvetica Neue"/>
                <a:ea typeface="Helvetica Neue"/>
                <a:cs typeface="Helvetica Neue"/>
                <a:sym typeface="Helvetica Neue"/>
              </a:rPr>
              <a:t> </a:t>
            </a:r>
            <a:endParaRPr sz="1100">
              <a:solidFill>
                <a:srgbClr val="999999"/>
              </a:solidFill>
              <a:latin typeface="Helvetica Neue"/>
              <a:ea typeface="Helvetica Neue"/>
              <a:cs typeface="Helvetica Neue"/>
              <a:sym typeface="Helvetica Neue"/>
            </a:endParaRPr>
          </a:p>
          <a:p>
            <a:pPr indent="0" lvl="0" marL="0" marR="0" rtl="0" algn="l">
              <a:lnSpc>
                <a:spcPct val="115000"/>
              </a:lnSpc>
              <a:spcBef>
                <a:spcPts val="0"/>
              </a:spcBef>
              <a:spcAft>
                <a:spcPts val="0"/>
              </a:spcAft>
              <a:buClr>
                <a:schemeClr val="dk1"/>
              </a:buClr>
              <a:buSzPts val="1100"/>
              <a:buFont typeface="Arial"/>
              <a:buNone/>
            </a:pPr>
            <a:r>
              <a:rPr lang="en" sz="1000">
                <a:solidFill>
                  <a:srgbClr val="999999"/>
                </a:solidFill>
                <a:latin typeface="Helvetica Neue"/>
                <a:ea typeface="Helvetica Neue"/>
                <a:cs typeface="Helvetica Neue"/>
                <a:sym typeface="Helvetica Neue"/>
              </a:rPr>
              <a:t>Nermin ElKammar has 12 years experience, </a:t>
            </a:r>
            <a:r>
              <a:rPr lang="en" sz="1000">
                <a:solidFill>
                  <a:schemeClr val="dk1"/>
                </a:solidFill>
                <a:highlight>
                  <a:srgbClr val="FFFFFF"/>
                </a:highlight>
                <a:latin typeface="Lexend"/>
                <a:ea typeface="Lexend"/>
                <a:cs typeface="Lexend"/>
                <a:sym typeface="Lexend"/>
              </a:rPr>
              <a:t>with </a:t>
            </a:r>
            <a:r>
              <a:rPr lang="en" sz="1000">
                <a:solidFill>
                  <a:schemeClr val="dk1"/>
                </a:solidFill>
                <a:highlight>
                  <a:schemeClr val="lt1"/>
                </a:highlight>
                <a:latin typeface="Lexend"/>
                <a:ea typeface="Lexend"/>
                <a:cs typeface="Lexend"/>
                <a:sym typeface="Lexend"/>
              </a:rPr>
              <a:t>children, youth, and adults, working for</a:t>
            </a:r>
            <a:r>
              <a:rPr lang="en" sz="1000">
                <a:solidFill>
                  <a:schemeClr val="dk1"/>
                </a:solidFill>
                <a:highlight>
                  <a:srgbClr val="FFFFFF"/>
                </a:highlight>
                <a:latin typeface="Lexend"/>
                <a:ea typeface="Lexend"/>
                <a:cs typeface="Lexend"/>
                <a:sym typeface="Lexend"/>
              </a:rPr>
              <a:t> local NGOs and Startups in the Education sector in Egypt, </a:t>
            </a:r>
            <a:r>
              <a:rPr lang="en" sz="1000">
                <a:solidFill>
                  <a:schemeClr val="dk1"/>
                </a:solidFill>
                <a:highlight>
                  <a:schemeClr val="lt1"/>
                </a:highlight>
                <a:latin typeface="Lexend"/>
                <a:ea typeface="Lexend"/>
                <a:cs typeface="Lexend"/>
                <a:sym typeface="Lexend"/>
              </a:rPr>
              <a:t>playing different roles in various domains of education including education management, curriculum design, teacher training design and delivery, and instructional coaching, and more.</a:t>
            </a:r>
            <a:endParaRPr sz="1000">
              <a:solidFill>
                <a:schemeClr val="dk1"/>
              </a:solidFill>
              <a:highlight>
                <a:schemeClr val="lt1"/>
              </a:highlight>
              <a:latin typeface="Lexend"/>
              <a:ea typeface="Lexend"/>
              <a:cs typeface="Lexend"/>
              <a:sym typeface="Lexend"/>
            </a:endParaRPr>
          </a:p>
          <a:p>
            <a:pPr indent="0" lvl="0" marL="0" marR="0" rtl="0" algn="l">
              <a:lnSpc>
                <a:spcPct val="115000"/>
              </a:lnSpc>
              <a:spcBef>
                <a:spcPts val="0"/>
              </a:spcBef>
              <a:spcAft>
                <a:spcPts val="0"/>
              </a:spcAft>
              <a:buClr>
                <a:schemeClr val="dk1"/>
              </a:buClr>
              <a:buSzPts val="1100"/>
              <a:buFont typeface="Arial"/>
              <a:buNone/>
            </a:pPr>
            <a:r>
              <a:rPr lang="en" sz="1000">
                <a:solidFill>
                  <a:schemeClr val="dk1"/>
                </a:solidFill>
                <a:highlight>
                  <a:schemeClr val="lt1"/>
                </a:highlight>
                <a:latin typeface="Lexend"/>
                <a:ea typeface="Lexend"/>
                <a:cs typeface="Lexend"/>
                <a:sym typeface="Lexend"/>
              </a:rPr>
              <a:t>She initiated a pioneering library program within community schools, and introduced a unique book club for teachers and school staff as a professional development tool.</a:t>
            </a:r>
            <a:endParaRPr sz="1000">
              <a:solidFill>
                <a:schemeClr val="dk1"/>
              </a:solidFill>
              <a:highlight>
                <a:schemeClr val="lt1"/>
              </a:highlight>
              <a:latin typeface="Lexend"/>
              <a:ea typeface="Lexend"/>
              <a:cs typeface="Lexend"/>
              <a:sym typeface="Lexend"/>
            </a:endParaRPr>
          </a:p>
          <a:p>
            <a:pPr indent="0" lvl="0" marL="0" marR="0" rtl="0" algn="l">
              <a:lnSpc>
                <a:spcPct val="115000"/>
              </a:lnSpc>
              <a:spcBef>
                <a:spcPts val="0"/>
              </a:spcBef>
              <a:spcAft>
                <a:spcPts val="0"/>
              </a:spcAft>
              <a:buClr>
                <a:schemeClr val="dk1"/>
              </a:buClr>
              <a:buSzPts val="1100"/>
              <a:buFont typeface="Arial"/>
              <a:buNone/>
            </a:pPr>
            <a:r>
              <a:t/>
            </a:r>
            <a:endParaRPr sz="1000">
              <a:solidFill>
                <a:schemeClr val="dk1"/>
              </a:solidFill>
              <a:highlight>
                <a:schemeClr val="lt1"/>
              </a:highlight>
              <a:latin typeface="Lexend"/>
              <a:ea typeface="Lexend"/>
              <a:cs typeface="Lexend"/>
              <a:sym typeface="Lexend"/>
            </a:endParaRPr>
          </a:p>
          <a:p>
            <a:pPr indent="0" lvl="0" marL="0" rtl="0" algn="l">
              <a:lnSpc>
                <a:spcPct val="115000"/>
              </a:lnSpc>
              <a:spcBef>
                <a:spcPts val="0"/>
              </a:spcBef>
              <a:spcAft>
                <a:spcPts val="0"/>
              </a:spcAft>
              <a:buClr>
                <a:schemeClr val="dk1"/>
              </a:buClr>
              <a:buSzPts val="1100"/>
              <a:buFont typeface="Arial"/>
              <a:buNone/>
            </a:pPr>
            <a:r>
              <a:rPr lang="en" sz="1000">
                <a:solidFill>
                  <a:srgbClr val="999999"/>
                </a:solidFill>
                <a:latin typeface="Helvetica Neue"/>
                <a:ea typeface="Helvetica Neue"/>
                <a:cs typeface="Helvetica Neue"/>
                <a:sym typeface="Helvetica Neue"/>
              </a:rPr>
              <a:t>She holds a </a:t>
            </a:r>
            <a:r>
              <a:rPr lang="en" sz="1000">
                <a:solidFill>
                  <a:srgbClr val="999999"/>
                </a:solidFill>
                <a:latin typeface="Helvetica Neue"/>
                <a:ea typeface="Helvetica Neue"/>
                <a:cs typeface="Helvetica Neue"/>
                <a:sym typeface="Helvetica Neue"/>
              </a:rPr>
              <a:t>Master of Education - MEd, in </a:t>
            </a:r>
            <a:r>
              <a:rPr lang="en" sz="1000">
                <a:solidFill>
                  <a:schemeClr val="dk1"/>
                </a:solidFill>
                <a:highlight>
                  <a:schemeClr val="lt1"/>
                </a:highlight>
                <a:latin typeface="Lexend"/>
                <a:ea typeface="Lexend"/>
                <a:cs typeface="Lexend"/>
                <a:sym typeface="Lexend"/>
              </a:rPr>
              <a:t>Education Leadership, Organizations, and Entrepreneurship from </a:t>
            </a:r>
            <a:r>
              <a:rPr lang="en" sz="1000">
                <a:solidFill>
                  <a:srgbClr val="999999"/>
                </a:solidFill>
                <a:latin typeface="Helvetica Neue"/>
                <a:ea typeface="Helvetica Neue"/>
                <a:cs typeface="Helvetica Neue"/>
                <a:sym typeface="Helvetica Neue"/>
              </a:rPr>
              <a:t>Harvard Graduate School of Education, in 2024, and </a:t>
            </a:r>
            <a:r>
              <a:rPr lang="en" sz="1000">
                <a:solidFill>
                  <a:schemeClr val="dk1"/>
                </a:solidFill>
                <a:highlight>
                  <a:schemeClr val="lt1"/>
                </a:highlight>
                <a:latin typeface="Lexend"/>
                <a:ea typeface="Lexend"/>
                <a:cs typeface="Lexend"/>
                <a:sym typeface="Lexend"/>
              </a:rPr>
              <a:t>Former teaching fellow at HGSE.</a:t>
            </a:r>
            <a:endParaRPr sz="1000">
              <a:solidFill>
                <a:schemeClr val="dk1"/>
              </a:solidFill>
              <a:highlight>
                <a:schemeClr val="lt1"/>
              </a:highlight>
              <a:latin typeface="Lexend"/>
              <a:ea typeface="Lexend"/>
              <a:cs typeface="Lexend"/>
              <a:sym typeface="Lexend"/>
            </a:endParaRPr>
          </a:p>
          <a:p>
            <a:pPr indent="0" lvl="0" marL="0" rtl="0" algn="l">
              <a:lnSpc>
                <a:spcPct val="150000"/>
              </a:lnSpc>
              <a:spcBef>
                <a:spcPts val="1400"/>
              </a:spcBef>
              <a:spcAft>
                <a:spcPts val="1400"/>
              </a:spcAft>
              <a:buClr>
                <a:schemeClr val="dk1"/>
              </a:buClr>
              <a:buSzPts val="1100"/>
              <a:buFont typeface="Arial"/>
              <a:buNone/>
            </a:pPr>
            <a:r>
              <a:rPr lang="en" sz="1000">
                <a:solidFill>
                  <a:schemeClr val="dk1"/>
                </a:solidFill>
                <a:highlight>
                  <a:srgbClr val="FFFFFF"/>
                </a:highlight>
                <a:latin typeface="Lexend"/>
                <a:ea typeface="Lexend"/>
                <a:cs typeface="Lexend"/>
                <a:sym typeface="Lexend"/>
              </a:rPr>
              <a:t>Established Social Enterprise, Jan 2025 that focuses on education for bridging socioeconomic gaps, strengthening youth agency and accountability, and enhancing social cohesion across Egypt. Also she is currently an Educational Consultant with Right to Dream, Egypt</a:t>
            </a:r>
            <a:endParaRPr sz="1100">
              <a:solidFill>
                <a:srgbClr val="999999"/>
              </a:solidFill>
              <a:latin typeface="Helvetica Neue"/>
              <a:ea typeface="Helvetica Neue"/>
              <a:cs typeface="Helvetica Neue"/>
              <a:sym typeface="Helvetica Neue"/>
            </a:endParaRPr>
          </a:p>
        </p:txBody>
      </p:sp>
      <p:sp>
        <p:nvSpPr>
          <p:cNvPr id="143" name="Google Shape;143;p9"/>
          <p:cNvSpPr/>
          <p:nvPr/>
        </p:nvSpPr>
        <p:spPr>
          <a:xfrm>
            <a:off x="6962425" y="971550"/>
            <a:ext cx="1975800" cy="2373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9"/>
          <p:cNvSpPr txBox="1"/>
          <p:nvPr/>
        </p:nvSpPr>
        <p:spPr>
          <a:xfrm>
            <a:off x="7074150" y="2342100"/>
            <a:ext cx="740100" cy="384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1100"/>
              <a:buFont typeface="Arial"/>
              <a:buNone/>
            </a:pPr>
            <a:r>
              <a:rPr b="1" i="0" lang="en" sz="1100" u="none" cap="none" strike="noStrike">
                <a:solidFill>
                  <a:srgbClr val="999999"/>
                </a:solidFill>
                <a:latin typeface="Gothic A1"/>
                <a:ea typeface="Gothic A1"/>
                <a:cs typeface="Gothic A1"/>
                <a:sym typeface="Gothic A1"/>
              </a:rPr>
              <a:t>Add graph</a:t>
            </a:r>
            <a:br>
              <a:rPr b="1" i="0" lang="en" sz="1100" u="none" cap="none" strike="noStrike">
                <a:solidFill>
                  <a:srgbClr val="999999"/>
                </a:solidFill>
                <a:latin typeface="Gothic A1"/>
                <a:ea typeface="Gothic A1"/>
                <a:cs typeface="Gothic A1"/>
                <a:sym typeface="Gothic A1"/>
              </a:rPr>
            </a:br>
            <a:r>
              <a:rPr b="1" i="0" lang="en" sz="1100" u="none" cap="none" strike="noStrike">
                <a:solidFill>
                  <a:srgbClr val="999999"/>
                </a:solidFill>
                <a:latin typeface="Gothic A1"/>
                <a:ea typeface="Gothic A1"/>
                <a:cs typeface="Gothic A1"/>
                <a:sym typeface="Gothic A1"/>
              </a:rPr>
              <a:t>or image</a:t>
            </a:r>
            <a:endParaRPr b="0" i="0" sz="1100" u="none" cap="none" strike="noStrike">
              <a:solidFill>
                <a:srgbClr val="999999"/>
              </a:solidFill>
              <a:latin typeface="Gothic A1"/>
              <a:ea typeface="Gothic A1"/>
              <a:cs typeface="Gothic A1"/>
              <a:sym typeface="Gothic A1"/>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7a0610d726_3_18">
            <a:hlinkClick r:id="rId3"/>
          </p:cNvPr>
          <p:cNvSpPr txBox="1"/>
          <p:nvPr/>
        </p:nvSpPr>
        <p:spPr>
          <a:xfrm>
            <a:off x="447575" y="476250"/>
            <a:ext cx="4038600" cy="49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400"/>
              <a:buFont typeface="Arial"/>
              <a:buNone/>
            </a:pPr>
            <a:r>
              <a:rPr b="0" i="0" lang="en" sz="3400" u="none" cap="none" strike="noStrike">
                <a:solidFill>
                  <a:srgbClr val="666666"/>
                </a:solidFill>
                <a:latin typeface="Helvetica Neue"/>
                <a:ea typeface="Helvetica Neue"/>
                <a:cs typeface="Helvetica Neue"/>
                <a:sym typeface="Helvetica Neue"/>
              </a:rPr>
              <a:t>Team</a:t>
            </a:r>
            <a:endParaRPr b="0" i="0" sz="3400" u="none" cap="none" strike="noStrike">
              <a:solidFill>
                <a:srgbClr val="666666"/>
              </a:solidFill>
              <a:latin typeface="Helvetica Neue"/>
              <a:ea typeface="Helvetica Neue"/>
              <a:cs typeface="Helvetica Neue"/>
              <a:sym typeface="Helvetica Neue"/>
            </a:endParaRPr>
          </a:p>
        </p:txBody>
      </p:sp>
      <p:sp>
        <p:nvSpPr>
          <p:cNvPr id="150" name="Google Shape;150;g37a0610d726_3_18"/>
          <p:cNvSpPr txBox="1"/>
          <p:nvPr/>
        </p:nvSpPr>
        <p:spPr>
          <a:xfrm>
            <a:off x="488525" y="1100225"/>
            <a:ext cx="4986000" cy="2449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lang="en" sz="1300">
                <a:solidFill>
                  <a:schemeClr val="dk1"/>
                </a:solidFill>
              </a:rPr>
              <a:t>Shereen has over </a:t>
            </a:r>
            <a:r>
              <a:rPr lang="en" sz="1300">
                <a:solidFill>
                  <a:schemeClr val="dk1"/>
                </a:solidFill>
                <a:highlight>
                  <a:srgbClr val="FFFFFF"/>
                </a:highlight>
              </a:rPr>
              <a:t>10 years of experience in working with teachers and educators. </a:t>
            </a:r>
            <a:endParaRPr sz="1300">
              <a:solidFill>
                <a:schemeClr val="dk1"/>
              </a:solidFill>
              <a:highlight>
                <a:srgbClr val="FFFFFF"/>
              </a:highlight>
            </a:endParaRPr>
          </a:p>
          <a:p>
            <a:pPr indent="0" lvl="0" marL="0" marR="0" rtl="0" algn="l">
              <a:lnSpc>
                <a:spcPct val="100000"/>
              </a:lnSpc>
              <a:spcBef>
                <a:spcPts val="0"/>
              </a:spcBef>
              <a:spcAft>
                <a:spcPts val="0"/>
              </a:spcAft>
              <a:buClr>
                <a:schemeClr val="dk1"/>
              </a:buClr>
              <a:buSzPts val="1100"/>
              <a:buFont typeface="Arial"/>
              <a:buNone/>
            </a:pPr>
            <a:r>
              <a:rPr lang="en" sz="1300">
                <a:solidFill>
                  <a:schemeClr val="dk1"/>
                </a:solidFill>
                <a:highlight>
                  <a:srgbClr val="FFFFFF"/>
                </a:highlight>
              </a:rPr>
              <a:t>She was an instructional coach for over 6 years.</a:t>
            </a:r>
            <a:endParaRPr sz="1300">
              <a:solidFill>
                <a:schemeClr val="dk1"/>
              </a:solidFill>
              <a:highlight>
                <a:srgbClr val="FFFFFF"/>
              </a:highlight>
            </a:endParaRPr>
          </a:p>
          <a:p>
            <a:pPr indent="0" lvl="0" marL="0" marR="0" rtl="0" algn="l">
              <a:lnSpc>
                <a:spcPct val="100000"/>
              </a:lnSpc>
              <a:spcBef>
                <a:spcPts val="0"/>
              </a:spcBef>
              <a:spcAft>
                <a:spcPts val="0"/>
              </a:spcAft>
              <a:buClr>
                <a:schemeClr val="dk1"/>
              </a:buClr>
              <a:buSzPts val="1100"/>
              <a:buFont typeface="Arial"/>
              <a:buNone/>
            </a:pPr>
            <a:r>
              <a:rPr lang="en" sz="1300">
                <a:solidFill>
                  <a:schemeClr val="dk1"/>
                </a:solidFill>
              </a:rPr>
              <a:t>She has 2 years experience of using design thinking principles to redesign a children’s reading App. She developed user stories and collaborated closely with UX/UI designers on the app's entire design.</a:t>
            </a:r>
            <a:endParaRPr sz="1300">
              <a:solidFill>
                <a:schemeClr val="dk1"/>
              </a:solidFill>
            </a:endParaRPr>
          </a:p>
          <a:p>
            <a:pPr indent="0" lvl="0" marL="0" rtl="0" algn="l">
              <a:spcBef>
                <a:spcPts val="0"/>
              </a:spcBef>
              <a:spcAft>
                <a:spcPts val="0"/>
              </a:spcAft>
              <a:buNone/>
            </a:pPr>
            <a:r>
              <a:rPr lang="en" sz="1300">
                <a:solidFill>
                  <a:schemeClr val="dk1"/>
                </a:solidFill>
              </a:rPr>
              <a:t>She also orchestrated global user testing (Kenya, India, Peru, US), leading to a successful launch in January 2024.</a:t>
            </a:r>
            <a:endParaRPr sz="1300">
              <a:solidFill>
                <a:schemeClr val="dk1"/>
              </a:solidFill>
            </a:endParaRPr>
          </a:p>
          <a:p>
            <a:pPr indent="0" lvl="0" marL="0" marR="0" rtl="0" algn="l">
              <a:lnSpc>
                <a:spcPct val="100000"/>
              </a:lnSpc>
              <a:spcBef>
                <a:spcPts val="0"/>
              </a:spcBef>
              <a:spcAft>
                <a:spcPts val="0"/>
              </a:spcAft>
              <a:buClr>
                <a:schemeClr val="dk1"/>
              </a:buClr>
              <a:buSzPts val="1100"/>
              <a:buFont typeface="Arial"/>
              <a:buNone/>
            </a:pPr>
            <a:r>
              <a:t/>
            </a:r>
            <a:endParaRPr sz="1300">
              <a:solidFill>
                <a:schemeClr val="dk1"/>
              </a:solidFill>
            </a:endParaRPr>
          </a:p>
          <a:p>
            <a:pPr indent="0" lvl="0" marL="0" rtl="0" algn="just">
              <a:lnSpc>
                <a:spcPct val="100000"/>
              </a:lnSpc>
              <a:spcBef>
                <a:spcPts val="1200"/>
              </a:spcBef>
              <a:spcAft>
                <a:spcPts val="0"/>
              </a:spcAft>
              <a:buNone/>
            </a:pPr>
            <a:r>
              <a:rPr lang="en" sz="1300">
                <a:solidFill>
                  <a:schemeClr val="dk1"/>
                </a:solidFill>
                <a:highlight>
                  <a:srgbClr val="FFFFFF"/>
                </a:highlight>
              </a:rPr>
              <a:t> </a:t>
            </a:r>
            <a:endParaRPr sz="1300">
              <a:solidFill>
                <a:schemeClr val="dk1"/>
              </a:solidFill>
            </a:endParaRPr>
          </a:p>
        </p:txBody>
      </p:sp>
      <p:sp>
        <p:nvSpPr>
          <p:cNvPr id="151" name="Google Shape;151;g37a0610d726_3_18"/>
          <p:cNvSpPr txBox="1"/>
          <p:nvPr/>
        </p:nvSpPr>
        <p:spPr>
          <a:xfrm>
            <a:off x="5970675" y="636000"/>
            <a:ext cx="2885100" cy="1018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lang="en" sz="1100">
                <a:solidFill>
                  <a:srgbClr val="999999"/>
                </a:solidFill>
                <a:latin typeface="Helvetica Neue"/>
                <a:ea typeface="Helvetica Neue"/>
                <a:cs typeface="Helvetica Neue"/>
                <a:sym typeface="Helvetica Neue"/>
              </a:rPr>
              <a:t>Add visual that is similar to LinkedIn from this document: </a:t>
            </a:r>
            <a:r>
              <a:rPr lang="en" sz="1100" u="sng">
                <a:solidFill>
                  <a:schemeClr val="hlink"/>
                </a:solidFill>
                <a:latin typeface="Helvetica Neue"/>
                <a:ea typeface="Helvetica Neue"/>
                <a:cs typeface="Helvetica Neue"/>
                <a:sym typeface="Helvetica Neue"/>
                <a:hlinkClick r:id="rId4"/>
              </a:rPr>
              <a:t>https://drive.usercontent.google.com/download?id=18YiYjmjjRvvRGqJP6He6lrSnLDW59BQ3&amp;authuser=0&amp;acrobatPromotionSource=GoogleDriveGridView</a:t>
            </a:r>
            <a:endParaRPr sz="1100">
              <a:solidFill>
                <a:srgbClr val="999999"/>
              </a:solidFill>
              <a:latin typeface="Helvetica Neue"/>
              <a:ea typeface="Helvetica Neue"/>
              <a:cs typeface="Helvetica Neue"/>
              <a:sym typeface="Helvetica Neue"/>
            </a:endParaRPr>
          </a:p>
          <a:p>
            <a:pPr indent="0" lvl="0" marL="0" rtl="0" algn="just">
              <a:lnSpc>
                <a:spcPct val="150000"/>
              </a:lnSpc>
              <a:spcBef>
                <a:spcPts val="1200"/>
              </a:spcBef>
              <a:spcAft>
                <a:spcPts val="0"/>
              </a:spcAft>
              <a:buNone/>
            </a:pPr>
            <a:r>
              <a:t/>
            </a:r>
            <a:endParaRPr sz="1000">
              <a:solidFill>
                <a:srgbClr val="999999"/>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7a0610d726_3_67">
            <a:hlinkClick r:id="rId3"/>
          </p:cNvPr>
          <p:cNvSpPr txBox="1"/>
          <p:nvPr/>
        </p:nvSpPr>
        <p:spPr>
          <a:xfrm>
            <a:off x="447575" y="476250"/>
            <a:ext cx="4038600" cy="49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400"/>
              <a:buFont typeface="Arial"/>
              <a:buNone/>
            </a:pPr>
            <a:r>
              <a:rPr b="0" i="0" lang="en" sz="3400" u="none" cap="none" strike="noStrike">
                <a:solidFill>
                  <a:srgbClr val="666666"/>
                </a:solidFill>
                <a:latin typeface="Helvetica Neue"/>
                <a:ea typeface="Helvetica Neue"/>
                <a:cs typeface="Helvetica Neue"/>
                <a:sym typeface="Helvetica Neue"/>
              </a:rPr>
              <a:t>Team</a:t>
            </a:r>
            <a:endParaRPr b="0" i="0" sz="3400" u="none" cap="none" strike="noStrike">
              <a:solidFill>
                <a:srgbClr val="666666"/>
              </a:solidFill>
              <a:latin typeface="Helvetica Neue"/>
              <a:ea typeface="Helvetica Neue"/>
              <a:cs typeface="Helvetica Neue"/>
              <a:sym typeface="Helvetica Neue"/>
            </a:endParaRPr>
          </a:p>
        </p:txBody>
      </p:sp>
      <p:sp>
        <p:nvSpPr>
          <p:cNvPr id="157" name="Google Shape;157;g37a0610d726_3_67"/>
          <p:cNvSpPr txBox="1"/>
          <p:nvPr/>
        </p:nvSpPr>
        <p:spPr>
          <a:xfrm>
            <a:off x="488525" y="1100225"/>
            <a:ext cx="4986000" cy="244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00">
                <a:solidFill>
                  <a:schemeClr val="dk1"/>
                </a:solidFill>
              </a:rPr>
              <a:t>Ahmed Youssry</a:t>
            </a:r>
            <a:endParaRPr sz="1300">
              <a:solidFill>
                <a:schemeClr val="dk1"/>
              </a:solidFill>
            </a:endParaRPr>
          </a:p>
          <a:p>
            <a:pPr indent="0" lvl="0" marL="0" marR="0" rtl="0" algn="l">
              <a:lnSpc>
                <a:spcPct val="100000"/>
              </a:lnSpc>
              <a:spcBef>
                <a:spcPts val="0"/>
              </a:spcBef>
              <a:spcAft>
                <a:spcPts val="0"/>
              </a:spcAft>
              <a:buClr>
                <a:schemeClr val="dk1"/>
              </a:buClr>
              <a:buSzPts val="1100"/>
              <a:buFont typeface="Arial"/>
              <a:buNone/>
            </a:pPr>
            <a:r>
              <a:t/>
            </a:r>
            <a:endParaRPr sz="1300">
              <a:solidFill>
                <a:schemeClr val="dk1"/>
              </a:solidFill>
            </a:endParaRPr>
          </a:p>
          <a:p>
            <a:pPr indent="0" lvl="0" marL="0" rtl="0" algn="just">
              <a:lnSpc>
                <a:spcPct val="100000"/>
              </a:lnSpc>
              <a:spcBef>
                <a:spcPts val="1200"/>
              </a:spcBef>
              <a:spcAft>
                <a:spcPts val="0"/>
              </a:spcAft>
              <a:buNone/>
            </a:pPr>
            <a:r>
              <a:rPr lang="en" sz="1300">
                <a:solidFill>
                  <a:schemeClr val="dk1"/>
                </a:solidFill>
                <a:highlight>
                  <a:srgbClr val="FFFFFF"/>
                </a:highlight>
              </a:rPr>
              <a:t> </a:t>
            </a:r>
            <a:endParaRPr sz="13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7a0610d726_3_28">
            <a:hlinkClick r:id="rId3"/>
          </p:cNvPr>
          <p:cNvSpPr txBox="1"/>
          <p:nvPr/>
        </p:nvSpPr>
        <p:spPr>
          <a:xfrm>
            <a:off x="447575" y="476250"/>
            <a:ext cx="4038600" cy="49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400"/>
              <a:buFont typeface="Arial"/>
              <a:buNone/>
            </a:pPr>
            <a:r>
              <a:rPr b="0" i="0" lang="en" sz="3400" u="none" cap="none" strike="noStrike">
                <a:solidFill>
                  <a:srgbClr val="666666"/>
                </a:solidFill>
                <a:latin typeface="Helvetica Neue"/>
                <a:ea typeface="Helvetica Neue"/>
                <a:cs typeface="Helvetica Neue"/>
                <a:sym typeface="Helvetica Neue"/>
              </a:rPr>
              <a:t>Team</a:t>
            </a:r>
            <a:endParaRPr b="0" i="0" sz="3400" u="none" cap="none" strike="noStrike">
              <a:solidFill>
                <a:srgbClr val="666666"/>
              </a:solidFill>
              <a:latin typeface="Helvetica Neue"/>
              <a:ea typeface="Helvetica Neue"/>
              <a:cs typeface="Helvetica Neue"/>
              <a:sym typeface="Helvetica Neue"/>
            </a:endParaRPr>
          </a:p>
        </p:txBody>
      </p:sp>
      <p:sp>
        <p:nvSpPr>
          <p:cNvPr id="163" name="Google Shape;163;g37a0610d726_3_28"/>
          <p:cNvSpPr txBox="1"/>
          <p:nvPr/>
        </p:nvSpPr>
        <p:spPr>
          <a:xfrm>
            <a:off x="225600" y="1100225"/>
            <a:ext cx="8737800" cy="4118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lang="en" sz="1200">
                <a:solidFill>
                  <a:schemeClr val="dk1"/>
                </a:solidFill>
                <a:latin typeface="Helvetica Neue"/>
                <a:ea typeface="Helvetica Neue"/>
                <a:cs typeface="Helvetica Neue"/>
                <a:sym typeface="Helvetica Neue"/>
              </a:rPr>
              <a:t>Nermeen and Shereen worked together for 7 years now. We started our journey in a local grassroots organization that operated community </a:t>
            </a:r>
            <a:r>
              <a:rPr lang="en" sz="1200">
                <a:solidFill>
                  <a:schemeClr val="dk1"/>
                </a:solidFill>
                <a:latin typeface="Helvetica Neue"/>
                <a:ea typeface="Helvetica Neue"/>
                <a:cs typeface="Helvetica Neue"/>
                <a:sym typeface="Helvetica Neue"/>
              </a:rPr>
              <a:t>schools</a:t>
            </a:r>
            <a:r>
              <a:rPr lang="en" sz="1200">
                <a:solidFill>
                  <a:schemeClr val="dk1"/>
                </a:solidFill>
                <a:latin typeface="Helvetica Neue"/>
                <a:ea typeface="Helvetica Neue"/>
                <a:cs typeface="Helvetica Neue"/>
                <a:sym typeface="Helvetica Neue"/>
              </a:rPr>
              <a:t> in rural areas. The organization had no clear educational vision, the only goal they had was to provide access to </a:t>
            </a:r>
            <a:r>
              <a:rPr lang="en" sz="1200">
                <a:solidFill>
                  <a:schemeClr val="dk1"/>
                </a:solidFill>
                <a:latin typeface="Helvetica Neue"/>
                <a:ea typeface="Helvetica Neue"/>
                <a:cs typeface="Helvetica Neue"/>
                <a:sym typeface="Helvetica Neue"/>
              </a:rPr>
              <a:t>education</a:t>
            </a:r>
            <a:r>
              <a:rPr lang="en" sz="1200">
                <a:solidFill>
                  <a:schemeClr val="dk1"/>
                </a:solidFill>
                <a:latin typeface="Helvetica Neue"/>
                <a:ea typeface="Helvetica Neue"/>
                <a:cs typeface="Helvetica Neue"/>
                <a:sym typeface="Helvetica Neue"/>
              </a:rPr>
              <a:t> to children in underserved rural villages. </a:t>
            </a:r>
            <a:endParaRPr sz="1200">
              <a:solidFill>
                <a:schemeClr val="dk1"/>
              </a:solidFill>
              <a:latin typeface="Helvetica Neue"/>
              <a:ea typeface="Helvetica Neue"/>
              <a:cs typeface="Helvetica Neue"/>
              <a:sym typeface="Helvetica Neue"/>
            </a:endParaRPr>
          </a:p>
          <a:p>
            <a:pPr indent="0" lvl="0" marL="0" marR="0" rtl="0" algn="l">
              <a:lnSpc>
                <a:spcPct val="115000"/>
              </a:lnSpc>
              <a:spcBef>
                <a:spcPts val="0"/>
              </a:spcBef>
              <a:spcAft>
                <a:spcPts val="0"/>
              </a:spcAft>
              <a:buClr>
                <a:schemeClr val="dk1"/>
              </a:buClr>
              <a:buSzPts val="1100"/>
              <a:buFont typeface="Arial"/>
              <a:buNone/>
            </a:pPr>
            <a:r>
              <a:rPr lang="en" sz="1200">
                <a:solidFill>
                  <a:schemeClr val="dk1"/>
                </a:solidFill>
                <a:latin typeface="Helvetica Neue"/>
                <a:ea typeface="Helvetica Neue"/>
                <a:cs typeface="Helvetica Neue"/>
                <a:sym typeface="Helvetica Neue"/>
              </a:rPr>
              <a:t>Our journey </a:t>
            </a:r>
            <a:r>
              <a:rPr lang="en" sz="1200">
                <a:solidFill>
                  <a:schemeClr val="dk1"/>
                </a:solidFill>
                <a:latin typeface="Helvetica Neue"/>
                <a:ea typeface="Helvetica Neue"/>
                <a:cs typeface="Helvetica Neue"/>
                <a:sym typeface="Helvetica Neue"/>
              </a:rPr>
              <a:t>working</a:t>
            </a:r>
            <a:r>
              <a:rPr lang="en" sz="1200">
                <a:solidFill>
                  <a:schemeClr val="dk1"/>
                </a:solidFill>
                <a:latin typeface="Helvetica Neue"/>
                <a:ea typeface="Helvetica Neue"/>
                <a:cs typeface="Helvetica Neue"/>
                <a:sym typeface="Helvetica Neue"/>
              </a:rPr>
              <a:t> together included many challenges:</a:t>
            </a:r>
            <a:endParaRPr sz="1200">
              <a:solidFill>
                <a:schemeClr val="dk1"/>
              </a:solidFill>
              <a:latin typeface="Helvetica Neue"/>
              <a:ea typeface="Helvetica Neue"/>
              <a:cs typeface="Helvetica Neue"/>
              <a:sym typeface="Helvetica Neue"/>
            </a:endParaRPr>
          </a:p>
          <a:p>
            <a:pPr indent="-304800" lvl="0" marL="457200" marR="0" rtl="0" algn="l">
              <a:lnSpc>
                <a:spcPct val="115000"/>
              </a:lnSpc>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We were not part of the community, we </a:t>
            </a:r>
            <a:r>
              <a:rPr lang="en" sz="1200">
                <a:solidFill>
                  <a:schemeClr val="dk1"/>
                </a:solidFill>
                <a:latin typeface="Helvetica Neue"/>
                <a:ea typeface="Helvetica Neue"/>
                <a:cs typeface="Helvetica Neue"/>
                <a:sym typeface="Helvetica Neue"/>
              </a:rPr>
              <a:t>didn't</a:t>
            </a:r>
            <a:r>
              <a:rPr lang="en" sz="1200">
                <a:solidFill>
                  <a:schemeClr val="dk1"/>
                </a:solidFill>
                <a:latin typeface="Helvetica Neue"/>
                <a:ea typeface="Helvetica Neue"/>
                <a:cs typeface="Helvetica Neue"/>
                <a:sym typeface="Helvetica Neue"/>
              </a:rPr>
              <a:t> understand rural communities</a:t>
            </a:r>
            <a:endParaRPr sz="1200">
              <a:solidFill>
                <a:schemeClr val="dk1"/>
              </a:solidFill>
              <a:latin typeface="Helvetica Neue"/>
              <a:ea typeface="Helvetica Neue"/>
              <a:cs typeface="Helvetica Neue"/>
              <a:sym typeface="Helvetica Neue"/>
            </a:endParaRPr>
          </a:p>
          <a:p>
            <a:pPr indent="-304800" lvl="0" marL="457200" marR="0" rtl="0" algn="l">
              <a:lnSpc>
                <a:spcPct val="115000"/>
              </a:lnSpc>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l</a:t>
            </a:r>
            <a:r>
              <a:rPr lang="en" sz="1200">
                <a:solidFill>
                  <a:schemeClr val="dk1"/>
                </a:solidFill>
                <a:latin typeface="Helvetica Neue"/>
                <a:ea typeface="Helvetica Neue"/>
                <a:cs typeface="Helvetica Neue"/>
                <a:sym typeface="Helvetica Neue"/>
              </a:rPr>
              <a:t>imited number of good quality teachers</a:t>
            </a:r>
            <a:r>
              <a:rPr lang="en" sz="1200">
                <a:solidFill>
                  <a:schemeClr val="dk1"/>
                </a:solidFill>
                <a:latin typeface="Helvetica Neue"/>
                <a:ea typeface="Helvetica Neue"/>
                <a:cs typeface="Helvetica Neue"/>
                <a:sym typeface="Helvetica Neue"/>
              </a:rPr>
              <a:t> </a:t>
            </a:r>
            <a:endParaRPr sz="1200">
              <a:solidFill>
                <a:schemeClr val="dk1"/>
              </a:solidFill>
              <a:latin typeface="Helvetica Neue"/>
              <a:ea typeface="Helvetica Neue"/>
              <a:cs typeface="Helvetica Neue"/>
              <a:sym typeface="Helvetica Neue"/>
            </a:endParaRPr>
          </a:p>
          <a:p>
            <a:pPr indent="-304800" lvl="0" marL="457200" marR="0" rtl="0" algn="l">
              <a:lnSpc>
                <a:spcPct val="115000"/>
              </a:lnSpc>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resistance from teachers</a:t>
            </a:r>
            <a:endParaRPr sz="1200">
              <a:solidFill>
                <a:schemeClr val="dk1"/>
              </a:solidFill>
              <a:latin typeface="Helvetica Neue"/>
              <a:ea typeface="Helvetica Neue"/>
              <a:cs typeface="Helvetica Neue"/>
              <a:sym typeface="Helvetica Neue"/>
            </a:endParaRPr>
          </a:p>
          <a:p>
            <a:pPr indent="-304800" lvl="0" marL="457200" marR="0" rtl="0" algn="l">
              <a:lnSpc>
                <a:spcPct val="115000"/>
              </a:lnSpc>
              <a:spcBef>
                <a:spcPts val="0"/>
              </a:spcBef>
              <a:spcAft>
                <a:spcPts val="0"/>
              </a:spcAft>
              <a:buClr>
                <a:schemeClr val="dk1"/>
              </a:buClr>
              <a:buSzPts val="1200"/>
              <a:buChar char="●"/>
            </a:pPr>
            <a:r>
              <a:rPr lang="en" sz="1200">
                <a:solidFill>
                  <a:schemeClr val="dk1"/>
                </a:solidFill>
                <a:latin typeface="Helvetica Neue"/>
                <a:ea typeface="Helvetica Neue"/>
                <a:cs typeface="Helvetica Neue"/>
                <a:sym typeface="Helvetica Neue"/>
              </a:rPr>
              <a:t>The normal use of corporal punishment in the community </a:t>
            </a:r>
            <a:endParaRPr sz="1200">
              <a:solidFill>
                <a:schemeClr val="dk1"/>
              </a:solidFill>
              <a:latin typeface="Helvetica Neue"/>
              <a:ea typeface="Helvetica Neue"/>
              <a:cs typeface="Helvetica Neue"/>
              <a:sym typeface="Helvetica Neue"/>
            </a:endParaRPr>
          </a:p>
          <a:p>
            <a:pPr indent="0" lvl="0" marL="0" marR="0" rtl="0" algn="l">
              <a:lnSpc>
                <a:spcPct val="115000"/>
              </a:lnSpc>
              <a:spcBef>
                <a:spcPts val="0"/>
              </a:spcBef>
              <a:spcAft>
                <a:spcPts val="0"/>
              </a:spcAft>
              <a:buNone/>
            </a:pPr>
            <a:r>
              <a:rPr lang="en" sz="1200">
                <a:solidFill>
                  <a:schemeClr val="dk1"/>
                </a:solidFill>
                <a:latin typeface="Helvetica Neue"/>
                <a:ea typeface="Helvetica Neue"/>
                <a:cs typeface="Helvetica Neue"/>
                <a:sym typeface="Helvetica Neue"/>
              </a:rPr>
              <a:t>We are proud of how the team grew and what we were able to </a:t>
            </a:r>
            <a:r>
              <a:rPr lang="en" sz="1200">
                <a:solidFill>
                  <a:schemeClr val="dk1"/>
                </a:solidFill>
                <a:latin typeface="Helvetica Neue"/>
                <a:ea typeface="Helvetica Neue"/>
                <a:cs typeface="Helvetica Neue"/>
                <a:sym typeface="Helvetica Neue"/>
              </a:rPr>
              <a:t>achieve</a:t>
            </a:r>
            <a:r>
              <a:rPr lang="en" sz="1200">
                <a:solidFill>
                  <a:schemeClr val="dk1"/>
                </a:solidFill>
                <a:latin typeface="Helvetica Neue"/>
                <a:ea typeface="Helvetica Neue"/>
                <a:cs typeface="Helvetica Neue"/>
                <a:sym typeface="Helvetica Neue"/>
              </a:rPr>
              <a:t> together. Some of our accomplishments in the organization are:</a:t>
            </a:r>
            <a:endParaRPr sz="1200">
              <a:solidFill>
                <a:schemeClr val="dk1"/>
              </a:solidFill>
              <a:latin typeface="Helvetica Neue"/>
              <a:ea typeface="Helvetica Neue"/>
              <a:cs typeface="Helvetica Neue"/>
              <a:sym typeface="Helvetica Neue"/>
            </a:endParaRPr>
          </a:p>
          <a:p>
            <a:pPr indent="-304800" lvl="0" marL="457200" marR="0" rtl="0" algn="l">
              <a:lnSpc>
                <a:spcPct val="115000"/>
              </a:lnSpc>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over 80 teachers in 3 community </a:t>
            </a:r>
            <a:r>
              <a:rPr lang="en" sz="1200">
                <a:solidFill>
                  <a:schemeClr val="dk1"/>
                </a:solidFill>
                <a:latin typeface="Helvetica Neue"/>
                <a:ea typeface="Helvetica Neue"/>
                <a:cs typeface="Helvetica Neue"/>
                <a:sym typeface="Helvetica Neue"/>
              </a:rPr>
              <a:t>schools</a:t>
            </a:r>
            <a:r>
              <a:rPr lang="en" sz="1200">
                <a:solidFill>
                  <a:schemeClr val="dk1"/>
                </a:solidFill>
                <a:latin typeface="Helvetica Neue"/>
                <a:ea typeface="Helvetica Neue"/>
                <a:cs typeface="Helvetica Neue"/>
                <a:sym typeface="Helvetica Neue"/>
              </a:rPr>
              <a:t> across Egypt</a:t>
            </a:r>
            <a:endParaRPr sz="1200">
              <a:solidFill>
                <a:schemeClr val="dk1"/>
              </a:solidFill>
              <a:latin typeface="Helvetica Neue"/>
              <a:ea typeface="Helvetica Neue"/>
              <a:cs typeface="Helvetica Neue"/>
              <a:sym typeface="Helvetica Neue"/>
            </a:endParaRPr>
          </a:p>
          <a:p>
            <a:pPr indent="-304800" lvl="0" marL="457200" marR="0" rtl="0" algn="l">
              <a:lnSpc>
                <a:spcPct val="115000"/>
              </a:lnSpc>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a well designed 5-years professional development program, all teachers engage in professional development and personalized coaching across the year. </a:t>
            </a:r>
            <a:endParaRPr sz="1200">
              <a:solidFill>
                <a:schemeClr val="dk1"/>
              </a:solidFill>
              <a:latin typeface="Helvetica Neue"/>
              <a:ea typeface="Helvetica Neue"/>
              <a:cs typeface="Helvetica Neue"/>
              <a:sym typeface="Helvetica Neue"/>
            </a:endParaRPr>
          </a:p>
          <a:p>
            <a:pPr indent="-304800" lvl="0" marL="457200" marR="0" rtl="0" algn="l">
              <a:lnSpc>
                <a:spcPct val="115000"/>
              </a:lnSpc>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Teachers have three professional paths through which they can get promoted: coaching, PD trainer, and </a:t>
            </a:r>
            <a:r>
              <a:rPr lang="en" sz="1200">
                <a:solidFill>
                  <a:schemeClr val="dk1"/>
                </a:solidFill>
                <a:latin typeface="Helvetica Neue"/>
                <a:ea typeface="Helvetica Neue"/>
                <a:cs typeface="Helvetica Neue"/>
                <a:sym typeface="Helvetica Neue"/>
              </a:rPr>
              <a:t>administration. </a:t>
            </a:r>
            <a:endParaRPr sz="1200">
              <a:solidFill>
                <a:schemeClr val="dk1"/>
              </a:solidFill>
              <a:latin typeface="Helvetica Neue"/>
              <a:ea typeface="Helvetica Neue"/>
              <a:cs typeface="Helvetica Neue"/>
              <a:sym typeface="Helvetica Neue"/>
            </a:endParaRPr>
          </a:p>
          <a:p>
            <a:pPr indent="-304800" lvl="0" marL="457200" marR="0" rtl="0" algn="l">
              <a:lnSpc>
                <a:spcPct val="115000"/>
              </a:lnSpc>
              <a:spcBef>
                <a:spcPts val="0"/>
              </a:spcBef>
              <a:spcAft>
                <a:spcPts val="0"/>
              </a:spcAft>
              <a:buClr>
                <a:schemeClr val="dk1"/>
              </a:buClr>
              <a:buSzPts val="1200"/>
              <a:buFont typeface="Helvetica Neue"/>
              <a:buChar char="●"/>
            </a:pPr>
            <a:r>
              <a:rPr lang="en" sz="1200">
                <a:solidFill>
                  <a:schemeClr val="dk1"/>
                </a:solidFill>
                <a:latin typeface="Helvetica Neue"/>
                <a:ea typeface="Helvetica Neue"/>
                <a:cs typeface="Helvetica Neue"/>
                <a:sym typeface="Helvetica Neue"/>
              </a:rPr>
              <a:t>All schools are run by principles and leadership staff that are grown from within the community schools. </a:t>
            </a:r>
            <a:endParaRPr sz="1200">
              <a:solidFill>
                <a:schemeClr val="dk1"/>
              </a:solidFill>
              <a:latin typeface="Helvetica Neue"/>
              <a:ea typeface="Helvetica Neue"/>
              <a:cs typeface="Helvetica Neue"/>
              <a:sym typeface="Helvetica Neue"/>
            </a:endParaRPr>
          </a:p>
          <a:p>
            <a:pPr indent="0" lvl="0" marL="0" marR="0" rtl="0" algn="l">
              <a:lnSpc>
                <a:spcPct val="115000"/>
              </a:lnSpc>
              <a:spcBef>
                <a:spcPts val="0"/>
              </a:spcBef>
              <a:spcAft>
                <a:spcPts val="0"/>
              </a:spcAft>
              <a:buNone/>
            </a:pPr>
            <a:r>
              <a:rPr lang="en" sz="1200">
                <a:solidFill>
                  <a:schemeClr val="dk1"/>
                </a:solidFill>
                <a:latin typeface="Helvetica Neue"/>
                <a:ea typeface="Helvetica Neue"/>
                <a:cs typeface="Helvetica Neue"/>
                <a:sym typeface="Helvetica Neue"/>
              </a:rPr>
              <a:t>Nermeen and Shereen work well together, we have synergy, shared values and complementary skills that make our work together productive and joyful. </a:t>
            </a:r>
            <a:endParaRPr sz="1200">
              <a:solidFill>
                <a:schemeClr val="dk1"/>
              </a:solidFill>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7a0610d726_3_35">
            <a:hlinkClick r:id="rId3"/>
          </p:cNvPr>
          <p:cNvSpPr txBox="1"/>
          <p:nvPr/>
        </p:nvSpPr>
        <p:spPr>
          <a:xfrm>
            <a:off x="447575" y="476250"/>
            <a:ext cx="4038600" cy="49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400"/>
              <a:buFont typeface="Arial"/>
              <a:buNone/>
            </a:pPr>
            <a:r>
              <a:rPr b="0" i="0" lang="en" sz="3400" u="none" cap="none" strike="noStrike">
                <a:solidFill>
                  <a:srgbClr val="666666"/>
                </a:solidFill>
                <a:latin typeface="Helvetica Neue"/>
                <a:ea typeface="Helvetica Neue"/>
                <a:cs typeface="Helvetica Neue"/>
                <a:sym typeface="Helvetica Neue"/>
              </a:rPr>
              <a:t>Team</a:t>
            </a:r>
            <a:endParaRPr b="0" i="0" sz="3400" u="none" cap="none" strike="noStrike">
              <a:solidFill>
                <a:srgbClr val="666666"/>
              </a:solidFill>
              <a:latin typeface="Helvetica Neue"/>
              <a:ea typeface="Helvetica Neue"/>
              <a:cs typeface="Helvetica Neue"/>
              <a:sym typeface="Helvetica Neue"/>
            </a:endParaRPr>
          </a:p>
        </p:txBody>
      </p:sp>
      <p:sp>
        <p:nvSpPr>
          <p:cNvPr id="169" name="Google Shape;169;g37a0610d726_3_35"/>
          <p:cNvSpPr txBox="1"/>
          <p:nvPr/>
        </p:nvSpPr>
        <p:spPr>
          <a:xfrm>
            <a:off x="225600" y="1100225"/>
            <a:ext cx="4962900" cy="3787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lang="en" sz="1300">
                <a:solidFill>
                  <a:schemeClr val="dk1"/>
                </a:solidFill>
                <a:latin typeface="Helvetica Neue"/>
                <a:ea typeface="Helvetica Neue"/>
                <a:cs typeface="Helvetica Neue"/>
                <a:sym typeface="Helvetica Neue"/>
              </a:rPr>
              <a:t>Ahmed and Shereen are life partners and also share some professional goals and aspirations. We have successfully completed several projects as co-</a:t>
            </a:r>
            <a:r>
              <a:rPr lang="en" sz="1300">
                <a:solidFill>
                  <a:schemeClr val="dk1"/>
                </a:solidFill>
                <a:latin typeface="Helvetica Neue"/>
                <a:ea typeface="Helvetica Neue"/>
                <a:cs typeface="Helvetica Neue"/>
                <a:sym typeface="Helvetica Neue"/>
              </a:rPr>
              <a:t>consultants, working together and with other team members. Some of the projects we worked on include:</a:t>
            </a:r>
            <a:endParaRPr sz="1300">
              <a:solidFill>
                <a:schemeClr val="dk1"/>
              </a:solidFill>
              <a:latin typeface="Helvetica Neue"/>
              <a:ea typeface="Helvetica Neue"/>
              <a:cs typeface="Helvetica Neue"/>
              <a:sym typeface="Helvetica Neue"/>
            </a:endParaRPr>
          </a:p>
          <a:p>
            <a:pPr indent="-311150" lvl="0" marL="457200" marR="0" rtl="0" algn="l">
              <a:lnSpc>
                <a:spcPct val="115000"/>
              </a:lnSpc>
              <a:spcBef>
                <a:spcPts val="0"/>
              </a:spcBef>
              <a:spcAft>
                <a:spcPts val="0"/>
              </a:spcAft>
              <a:buClr>
                <a:schemeClr val="dk1"/>
              </a:buClr>
              <a:buSzPts val="1300"/>
              <a:buFont typeface="Helvetica Neue"/>
              <a:buChar char="●"/>
            </a:pPr>
            <a:r>
              <a:rPr lang="en" sz="1300">
                <a:solidFill>
                  <a:schemeClr val="dk1"/>
                </a:solidFill>
                <a:latin typeface="Helvetica Neue"/>
                <a:ea typeface="Helvetica Neue"/>
                <a:cs typeface="Helvetica Neue"/>
                <a:sym typeface="Helvetica Neue"/>
              </a:rPr>
              <a:t>Blended learning MOOC - Edraak Platform:</a:t>
            </a:r>
            <a:endParaRPr sz="1300">
              <a:solidFill>
                <a:schemeClr val="dk1"/>
              </a:solidFill>
              <a:latin typeface="Helvetica Neue"/>
              <a:ea typeface="Helvetica Neue"/>
              <a:cs typeface="Helvetica Neue"/>
              <a:sym typeface="Helvetica Neue"/>
            </a:endParaRPr>
          </a:p>
          <a:p>
            <a:pPr indent="-311150" lvl="1" marL="914400" marR="0" rtl="0" algn="l">
              <a:lnSpc>
                <a:spcPct val="115000"/>
              </a:lnSpc>
              <a:spcBef>
                <a:spcPts val="0"/>
              </a:spcBef>
              <a:spcAft>
                <a:spcPts val="0"/>
              </a:spcAft>
              <a:buClr>
                <a:schemeClr val="dk1"/>
              </a:buClr>
              <a:buSzPts val="1300"/>
              <a:buFont typeface="Helvetica Neue"/>
              <a:buChar char="○"/>
            </a:pPr>
            <a:r>
              <a:rPr lang="en" sz="1300">
                <a:solidFill>
                  <a:schemeClr val="dk1"/>
                </a:solidFill>
                <a:latin typeface="Helvetica Neue"/>
                <a:ea typeface="Helvetica Neue"/>
                <a:cs typeface="Helvetica Neue"/>
                <a:sym typeface="Helvetica Neue"/>
              </a:rPr>
              <a:t>Design the content to be delivered in the MOOC in Arabic.</a:t>
            </a:r>
            <a:endParaRPr sz="1300">
              <a:solidFill>
                <a:schemeClr val="dk1"/>
              </a:solidFill>
              <a:latin typeface="Helvetica Neue"/>
              <a:ea typeface="Helvetica Neue"/>
              <a:cs typeface="Helvetica Neue"/>
              <a:sym typeface="Helvetica Neue"/>
            </a:endParaRPr>
          </a:p>
          <a:p>
            <a:pPr indent="-311150" lvl="1" marL="914400" marR="0" rtl="0" algn="l">
              <a:lnSpc>
                <a:spcPct val="115000"/>
              </a:lnSpc>
              <a:spcBef>
                <a:spcPts val="0"/>
              </a:spcBef>
              <a:spcAft>
                <a:spcPts val="0"/>
              </a:spcAft>
              <a:buClr>
                <a:schemeClr val="dk1"/>
              </a:buClr>
              <a:buSzPts val="1300"/>
              <a:buFont typeface="Helvetica Neue"/>
              <a:buChar char="○"/>
            </a:pPr>
            <a:r>
              <a:rPr lang="en" sz="1300">
                <a:solidFill>
                  <a:schemeClr val="dk1"/>
                </a:solidFill>
                <a:latin typeface="Helvetica Neue"/>
                <a:ea typeface="Helvetica Neue"/>
                <a:cs typeface="Helvetica Neue"/>
                <a:sym typeface="Helvetica Neue"/>
              </a:rPr>
              <a:t>Develop the activities and assessments</a:t>
            </a:r>
            <a:endParaRPr sz="1300">
              <a:solidFill>
                <a:schemeClr val="dk1"/>
              </a:solidFill>
              <a:latin typeface="Helvetica Neue"/>
              <a:ea typeface="Helvetica Neue"/>
              <a:cs typeface="Helvetica Neue"/>
              <a:sym typeface="Helvetica Neue"/>
            </a:endParaRPr>
          </a:p>
          <a:p>
            <a:pPr indent="-311150" lvl="1" marL="914400" marR="0" rtl="0" algn="l">
              <a:lnSpc>
                <a:spcPct val="115000"/>
              </a:lnSpc>
              <a:spcBef>
                <a:spcPts val="0"/>
              </a:spcBef>
              <a:spcAft>
                <a:spcPts val="0"/>
              </a:spcAft>
              <a:buClr>
                <a:schemeClr val="dk1"/>
              </a:buClr>
              <a:buSzPts val="1300"/>
              <a:buFont typeface="Helvetica Neue"/>
              <a:buChar char="○"/>
            </a:pPr>
            <a:r>
              <a:rPr lang="en" sz="1300">
                <a:solidFill>
                  <a:schemeClr val="dk1"/>
                </a:solidFill>
                <a:latin typeface="Helvetica Neue"/>
                <a:ea typeface="Helvetica Neue"/>
                <a:cs typeface="Helvetica Neue"/>
                <a:sym typeface="Helvetica Neue"/>
              </a:rPr>
              <a:t>Record the videos that deliver the content of the MOOC and write their script.</a:t>
            </a:r>
            <a:endParaRPr sz="1300">
              <a:solidFill>
                <a:schemeClr val="dk1"/>
              </a:solidFill>
              <a:latin typeface="Helvetica Neue"/>
              <a:ea typeface="Helvetica Neue"/>
              <a:cs typeface="Helvetica Neue"/>
              <a:sym typeface="Helvetica Neue"/>
            </a:endParaRPr>
          </a:p>
          <a:p>
            <a:pPr indent="-311150" lvl="0" marL="457200" marR="0" rtl="0" algn="l">
              <a:lnSpc>
                <a:spcPct val="115000"/>
              </a:lnSpc>
              <a:spcBef>
                <a:spcPts val="0"/>
              </a:spcBef>
              <a:spcAft>
                <a:spcPts val="0"/>
              </a:spcAft>
              <a:buClr>
                <a:schemeClr val="dk1"/>
              </a:buClr>
              <a:buSzPts val="1300"/>
              <a:buFont typeface="Helvetica Neue"/>
              <a:buChar char="●"/>
            </a:pPr>
            <a:r>
              <a:rPr lang="en" sz="1300">
                <a:solidFill>
                  <a:schemeClr val="dk1"/>
                </a:solidFill>
                <a:latin typeface="Helvetica Neue"/>
                <a:ea typeface="Helvetica Neue"/>
                <a:cs typeface="Helvetica Neue"/>
                <a:sym typeface="Helvetica Neue"/>
              </a:rPr>
              <a:t>Youth Program alwan wa awtar:</a:t>
            </a:r>
            <a:endParaRPr sz="1300">
              <a:solidFill>
                <a:schemeClr val="dk1"/>
              </a:solidFill>
              <a:latin typeface="Helvetica Neue"/>
              <a:ea typeface="Helvetica Neue"/>
              <a:cs typeface="Helvetica Neue"/>
              <a:sym typeface="Helvetica Neue"/>
            </a:endParaRPr>
          </a:p>
          <a:p>
            <a:pPr indent="-311150" lvl="1" marL="914400" rtl="0" algn="l">
              <a:lnSpc>
                <a:spcPct val="115000"/>
              </a:lnSpc>
              <a:spcBef>
                <a:spcPts val="0"/>
              </a:spcBef>
              <a:spcAft>
                <a:spcPts val="0"/>
              </a:spcAft>
              <a:buClr>
                <a:schemeClr val="dk1"/>
              </a:buClr>
              <a:buSzPts val="1300"/>
              <a:buFont typeface="Helvetica Neue"/>
              <a:buChar char="○"/>
            </a:pPr>
            <a:r>
              <a:rPr lang="en" sz="1300">
                <a:solidFill>
                  <a:schemeClr val="dk1"/>
                </a:solidFill>
                <a:latin typeface="Helvetica Neue"/>
                <a:ea typeface="Helvetica Neue"/>
                <a:cs typeface="Helvetica Neue"/>
                <a:sym typeface="Helvetica Neue"/>
              </a:rPr>
              <a:t>Design the content, activities and final projects of the program</a:t>
            </a:r>
            <a:endParaRPr sz="1300">
              <a:solidFill>
                <a:schemeClr val="dk1"/>
              </a:solidFill>
              <a:latin typeface="Helvetica Neue"/>
              <a:ea typeface="Helvetica Neue"/>
              <a:cs typeface="Helvetica Neue"/>
              <a:sym typeface="Helvetica Neue"/>
            </a:endParaRPr>
          </a:p>
          <a:p>
            <a:pPr indent="-311150" lvl="1" marL="914400" rtl="0" algn="l">
              <a:lnSpc>
                <a:spcPct val="115000"/>
              </a:lnSpc>
              <a:spcBef>
                <a:spcPts val="0"/>
              </a:spcBef>
              <a:spcAft>
                <a:spcPts val="0"/>
              </a:spcAft>
              <a:buClr>
                <a:schemeClr val="dk1"/>
              </a:buClr>
              <a:buSzPts val="1300"/>
              <a:buFont typeface="Helvetica Neue"/>
              <a:buChar char="○"/>
            </a:pPr>
            <a:r>
              <a:rPr lang="en" sz="1300">
                <a:solidFill>
                  <a:schemeClr val="dk1"/>
                </a:solidFill>
                <a:latin typeface="Helvetica Neue"/>
                <a:ea typeface="Helvetica Neue"/>
                <a:cs typeface="Helvetica Neue"/>
                <a:sym typeface="Helvetica Neue"/>
              </a:rPr>
              <a:t>Implement the program with 2 cohorts of youth (15-20 youth in each cohort)</a:t>
            </a:r>
            <a:endParaRPr sz="1300">
              <a:solidFill>
                <a:schemeClr val="dk1"/>
              </a:solidFill>
              <a:latin typeface="Helvetica Neue"/>
              <a:ea typeface="Helvetica Neue"/>
              <a:cs typeface="Helvetica Neue"/>
              <a:sym typeface="Helvetica Neue"/>
            </a:endParaRPr>
          </a:p>
          <a:p>
            <a:pPr indent="0" lvl="0" marL="457200" marR="0" rtl="0" algn="l">
              <a:lnSpc>
                <a:spcPct val="115000"/>
              </a:lnSpc>
              <a:spcBef>
                <a:spcPts val="0"/>
              </a:spcBef>
              <a:spcAft>
                <a:spcPts val="0"/>
              </a:spcAft>
              <a:buNone/>
            </a:pPr>
            <a:r>
              <a:t/>
            </a:r>
            <a:endParaRPr sz="1000">
              <a:solidFill>
                <a:srgbClr val="999999"/>
              </a:solidFill>
              <a:latin typeface="Helvetica Neue"/>
              <a:ea typeface="Helvetica Neue"/>
              <a:cs typeface="Helvetica Neue"/>
              <a:sym typeface="Helvetica Neue"/>
            </a:endParaRPr>
          </a:p>
        </p:txBody>
      </p:sp>
      <p:sp>
        <p:nvSpPr>
          <p:cNvPr id="170" name="Google Shape;170;g37a0610d726_3_35"/>
          <p:cNvSpPr/>
          <p:nvPr/>
        </p:nvSpPr>
        <p:spPr>
          <a:xfrm>
            <a:off x="5901375" y="552450"/>
            <a:ext cx="2642700" cy="2211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g37a0610d726_3_35"/>
          <p:cNvSpPr txBox="1"/>
          <p:nvPr/>
        </p:nvSpPr>
        <p:spPr>
          <a:xfrm>
            <a:off x="6154575" y="2379450"/>
            <a:ext cx="740100" cy="384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1100"/>
              <a:buFont typeface="Arial"/>
              <a:buNone/>
            </a:pPr>
            <a:r>
              <a:rPr b="1" i="0" lang="en" sz="1100" u="none" cap="none" strike="noStrike">
                <a:solidFill>
                  <a:srgbClr val="999999"/>
                </a:solidFill>
                <a:latin typeface="Gothic A1"/>
                <a:ea typeface="Gothic A1"/>
                <a:cs typeface="Gothic A1"/>
                <a:sym typeface="Gothic A1"/>
              </a:rPr>
              <a:t>Add graph</a:t>
            </a:r>
            <a:br>
              <a:rPr b="1" i="0" lang="en" sz="1100" u="none" cap="none" strike="noStrike">
                <a:solidFill>
                  <a:srgbClr val="999999"/>
                </a:solidFill>
                <a:latin typeface="Gothic A1"/>
                <a:ea typeface="Gothic A1"/>
                <a:cs typeface="Gothic A1"/>
                <a:sym typeface="Gothic A1"/>
              </a:rPr>
            </a:br>
            <a:r>
              <a:rPr b="1" i="0" lang="en" sz="1100" u="none" cap="none" strike="noStrike">
                <a:solidFill>
                  <a:srgbClr val="999999"/>
                </a:solidFill>
                <a:latin typeface="Gothic A1"/>
                <a:ea typeface="Gothic A1"/>
                <a:cs typeface="Gothic A1"/>
                <a:sym typeface="Gothic A1"/>
              </a:rPr>
              <a:t>or image</a:t>
            </a:r>
            <a:endParaRPr b="0" i="0" sz="1100" u="none" cap="none" strike="noStrike">
              <a:solidFill>
                <a:srgbClr val="999999"/>
              </a:solidFill>
              <a:latin typeface="Gothic A1"/>
              <a:ea typeface="Gothic A1"/>
              <a:cs typeface="Gothic A1"/>
              <a:sym typeface="Gothic A1"/>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7a0610d726_3_42">
            <a:hlinkClick r:id="rId3"/>
          </p:cNvPr>
          <p:cNvSpPr txBox="1"/>
          <p:nvPr/>
        </p:nvSpPr>
        <p:spPr>
          <a:xfrm>
            <a:off x="447575" y="476250"/>
            <a:ext cx="4038600" cy="49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400"/>
              <a:buFont typeface="Arial"/>
              <a:buNone/>
            </a:pPr>
            <a:r>
              <a:rPr b="0" i="0" lang="en" sz="3400" u="none" cap="none" strike="noStrike">
                <a:solidFill>
                  <a:srgbClr val="666666"/>
                </a:solidFill>
                <a:latin typeface="Helvetica Neue"/>
                <a:ea typeface="Helvetica Neue"/>
                <a:cs typeface="Helvetica Neue"/>
                <a:sym typeface="Helvetica Neue"/>
              </a:rPr>
              <a:t>Team</a:t>
            </a:r>
            <a:endParaRPr b="0" i="0" sz="3400" u="none" cap="none" strike="noStrike">
              <a:solidFill>
                <a:srgbClr val="666666"/>
              </a:solidFill>
              <a:latin typeface="Helvetica Neue"/>
              <a:ea typeface="Helvetica Neue"/>
              <a:cs typeface="Helvetica Neue"/>
              <a:sym typeface="Helvetica Neue"/>
            </a:endParaRPr>
          </a:p>
        </p:txBody>
      </p:sp>
      <p:sp>
        <p:nvSpPr>
          <p:cNvPr id="177" name="Google Shape;177;g37a0610d726_3_42"/>
          <p:cNvSpPr txBox="1"/>
          <p:nvPr/>
        </p:nvSpPr>
        <p:spPr>
          <a:xfrm>
            <a:off x="488950" y="1100225"/>
            <a:ext cx="3902400" cy="2825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lang="en" sz="1100">
                <a:solidFill>
                  <a:srgbClr val="999999"/>
                </a:solidFill>
                <a:latin typeface="Helvetica Neue"/>
                <a:ea typeface="Helvetica Neue"/>
                <a:cs typeface="Helvetica Neue"/>
                <a:sym typeface="Helvetica Neue"/>
              </a:rPr>
              <a:t>The three of us have been working together for three months now. We have </a:t>
            </a:r>
            <a:r>
              <a:rPr lang="en" sz="1100">
                <a:solidFill>
                  <a:srgbClr val="999999"/>
                </a:solidFill>
                <a:latin typeface="Helvetica Neue"/>
                <a:ea typeface="Helvetica Neue"/>
                <a:cs typeface="Helvetica Neue"/>
                <a:sym typeface="Helvetica Neue"/>
              </a:rPr>
              <a:t>already</a:t>
            </a:r>
            <a:r>
              <a:rPr lang="en" sz="1100">
                <a:solidFill>
                  <a:srgbClr val="999999"/>
                </a:solidFill>
                <a:latin typeface="Helvetica Neue"/>
                <a:ea typeface="Helvetica Neue"/>
                <a:cs typeface="Helvetica Neue"/>
                <a:sym typeface="Helvetica Neue"/>
              </a:rPr>
              <a:t> developed  a working system for our team. We have </a:t>
            </a:r>
            <a:r>
              <a:rPr lang="en" sz="1100">
                <a:solidFill>
                  <a:srgbClr val="999999"/>
                </a:solidFill>
                <a:latin typeface="Helvetica Neue"/>
                <a:ea typeface="Helvetica Neue"/>
                <a:cs typeface="Helvetica Neue"/>
                <a:sym typeface="Helvetica Neue"/>
              </a:rPr>
              <a:t>regular</a:t>
            </a:r>
            <a:r>
              <a:rPr lang="en" sz="1100">
                <a:solidFill>
                  <a:srgbClr val="999999"/>
                </a:solidFill>
                <a:latin typeface="Helvetica Neue"/>
                <a:ea typeface="Helvetica Neue"/>
                <a:cs typeface="Helvetica Neue"/>
                <a:sym typeface="Helvetica Neue"/>
              </a:rPr>
              <a:t> weekly meetings, a yearly plan and a good working relationship. </a:t>
            </a:r>
            <a:endParaRPr sz="1100">
              <a:solidFill>
                <a:srgbClr val="999999"/>
              </a:solidFill>
              <a:latin typeface="Helvetica Neue"/>
              <a:ea typeface="Helvetica Neue"/>
              <a:cs typeface="Helvetica Neue"/>
              <a:sym typeface="Helvetica Neue"/>
            </a:endParaRPr>
          </a:p>
          <a:p>
            <a:pPr indent="0" lvl="0" marL="0" marR="0" rtl="0" algn="l">
              <a:lnSpc>
                <a:spcPct val="115000"/>
              </a:lnSpc>
              <a:spcBef>
                <a:spcPts val="0"/>
              </a:spcBef>
              <a:spcAft>
                <a:spcPts val="0"/>
              </a:spcAft>
              <a:buNone/>
            </a:pPr>
            <a:r>
              <a:rPr lang="en" sz="1100">
                <a:solidFill>
                  <a:srgbClr val="999999"/>
                </a:solidFill>
                <a:latin typeface="Helvetica Neue"/>
                <a:ea typeface="Helvetica Neue"/>
                <a:cs typeface="Helvetica Neue"/>
                <a:sym typeface="Helvetica Neue"/>
              </a:rPr>
              <a:t>We are able to have difficult conversations, agree on realistic goals and provide support to each other. </a:t>
            </a:r>
            <a:endParaRPr sz="1100">
              <a:solidFill>
                <a:srgbClr val="999999"/>
              </a:solidFill>
              <a:latin typeface="Helvetica Neue"/>
              <a:ea typeface="Helvetica Neue"/>
              <a:cs typeface="Helvetica Neue"/>
              <a:sym typeface="Helvetica Neue"/>
            </a:endParaRPr>
          </a:p>
          <a:p>
            <a:pPr indent="0" lvl="0" marL="0" marR="0" rtl="0" algn="l">
              <a:lnSpc>
                <a:spcPct val="115000"/>
              </a:lnSpc>
              <a:spcBef>
                <a:spcPts val="0"/>
              </a:spcBef>
              <a:spcAft>
                <a:spcPts val="0"/>
              </a:spcAft>
              <a:buNone/>
            </a:pPr>
            <a:r>
              <a:rPr lang="en" sz="1100">
                <a:solidFill>
                  <a:srgbClr val="999999"/>
                </a:solidFill>
                <a:latin typeface="Helvetica Neue"/>
                <a:ea typeface="Helvetica Neue"/>
                <a:cs typeface="Helvetica Neue"/>
                <a:sym typeface="Helvetica Neue"/>
              </a:rPr>
              <a:t>Our hopes are to develop a solution that would benefit all teachers and students, that would grow and </a:t>
            </a:r>
            <a:r>
              <a:rPr lang="en" sz="1100">
                <a:solidFill>
                  <a:srgbClr val="999999"/>
                </a:solidFill>
                <a:latin typeface="Helvetica Neue"/>
                <a:ea typeface="Helvetica Neue"/>
                <a:cs typeface="Helvetica Neue"/>
                <a:sym typeface="Helvetica Neue"/>
              </a:rPr>
              <a:t>evolve</a:t>
            </a:r>
            <a:r>
              <a:rPr lang="en" sz="1100">
                <a:solidFill>
                  <a:srgbClr val="999999"/>
                </a:solidFill>
                <a:latin typeface="Helvetica Neue"/>
                <a:ea typeface="Helvetica Neue"/>
                <a:cs typeface="Helvetica Neue"/>
                <a:sym typeface="Helvetica Neue"/>
              </a:rPr>
              <a:t> as we learn and work with schools and teachers, and that would contribute to improving quality of </a:t>
            </a:r>
            <a:r>
              <a:rPr lang="en" sz="1100">
                <a:solidFill>
                  <a:srgbClr val="999999"/>
                </a:solidFill>
                <a:latin typeface="Helvetica Neue"/>
                <a:ea typeface="Helvetica Neue"/>
                <a:cs typeface="Helvetica Neue"/>
                <a:sym typeface="Helvetica Neue"/>
              </a:rPr>
              <a:t>education</a:t>
            </a:r>
            <a:r>
              <a:rPr lang="en" sz="1100">
                <a:solidFill>
                  <a:srgbClr val="999999"/>
                </a:solidFill>
                <a:latin typeface="Helvetica Neue"/>
                <a:ea typeface="Helvetica Neue"/>
                <a:cs typeface="Helvetica Neue"/>
                <a:sym typeface="Helvetica Neue"/>
              </a:rPr>
              <a:t>. </a:t>
            </a:r>
            <a:endParaRPr sz="1100">
              <a:solidFill>
                <a:srgbClr val="999999"/>
              </a:solidFill>
              <a:latin typeface="Helvetica Neue"/>
              <a:ea typeface="Helvetica Neue"/>
              <a:cs typeface="Helvetica Neue"/>
              <a:sym typeface="Helvetica Neue"/>
            </a:endParaRPr>
          </a:p>
          <a:p>
            <a:pPr indent="0" lvl="0" marL="0" marR="0" rtl="0" algn="l">
              <a:lnSpc>
                <a:spcPct val="115000"/>
              </a:lnSpc>
              <a:spcBef>
                <a:spcPts val="0"/>
              </a:spcBef>
              <a:spcAft>
                <a:spcPts val="0"/>
              </a:spcAft>
              <a:buNone/>
            </a:pPr>
            <a:r>
              <a:rPr lang="en" sz="1100">
                <a:solidFill>
                  <a:srgbClr val="999999"/>
                </a:solidFill>
                <a:latin typeface="Helvetica Neue"/>
                <a:ea typeface="Helvetica Neue"/>
                <a:cs typeface="Helvetica Neue"/>
                <a:sym typeface="Helvetica Neue"/>
              </a:rPr>
              <a:t>We also find joy in and </a:t>
            </a:r>
            <a:r>
              <a:rPr lang="en" sz="1100">
                <a:solidFill>
                  <a:srgbClr val="999999"/>
                </a:solidFill>
                <a:latin typeface="Helvetica Neue"/>
                <a:ea typeface="Helvetica Neue"/>
                <a:cs typeface="Helvetica Neue"/>
                <a:sym typeface="Helvetica Neue"/>
              </a:rPr>
              <a:t>fulfillment</a:t>
            </a:r>
            <a:r>
              <a:rPr lang="en" sz="1100">
                <a:solidFill>
                  <a:srgbClr val="999999"/>
                </a:solidFill>
                <a:latin typeface="Helvetica Neue"/>
                <a:ea typeface="Helvetica Neue"/>
                <a:cs typeface="Helvetica Neue"/>
                <a:sym typeface="Helvetica Neue"/>
              </a:rPr>
              <a:t> in this work.</a:t>
            </a:r>
            <a:endParaRPr sz="1100">
              <a:solidFill>
                <a:srgbClr val="999999"/>
              </a:solidFill>
              <a:latin typeface="Helvetica Neue"/>
              <a:ea typeface="Helvetica Neue"/>
              <a:cs typeface="Helvetica Neue"/>
              <a:sym typeface="Helvetica Neue"/>
            </a:endParaRPr>
          </a:p>
          <a:p>
            <a:pPr indent="0" lvl="0" marL="0" marR="0" rtl="0" algn="l">
              <a:lnSpc>
                <a:spcPct val="115000"/>
              </a:lnSpc>
              <a:spcBef>
                <a:spcPts val="0"/>
              </a:spcBef>
              <a:spcAft>
                <a:spcPts val="0"/>
              </a:spcAft>
              <a:buNone/>
            </a:pPr>
            <a:r>
              <a:t/>
            </a:r>
            <a:endParaRPr sz="1000">
              <a:solidFill>
                <a:srgbClr val="999999"/>
              </a:solidFill>
              <a:latin typeface="Helvetica Neue"/>
              <a:ea typeface="Helvetica Neue"/>
              <a:cs typeface="Helvetica Neue"/>
              <a:sym typeface="Helvetica Neue"/>
            </a:endParaRPr>
          </a:p>
        </p:txBody>
      </p:sp>
      <p:sp>
        <p:nvSpPr>
          <p:cNvPr id="178" name="Google Shape;178;g37a0610d726_3_42"/>
          <p:cNvSpPr/>
          <p:nvPr/>
        </p:nvSpPr>
        <p:spPr>
          <a:xfrm>
            <a:off x="5871075" y="562555"/>
            <a:ext cx="2673000" cy="2458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g37a0610d726_3_42"/>
          <p:cNvSpPr txBox="1"/>
          <p:nvPr/>
        </p:nvSpPr>
        <p:spPr>
          <a:xfrm>
            <a:off x="6154575" y="2379450"/>
            <a:ext cx="740100" cy="384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1100"/>
              <a:buFont typeface="Arial"/>
              <a:buNone/>
            </a:pPr>
            <a:r>
              <a:rPr b="1" i="0" lang="en" sz="1100" u="none" cap="none" strike="noStrike">
                <a:solidFill>
                  <a:srgbClr val="999999"/>
                </a:solidFill>
                <a:latin typeface="Gothic A1"/>
                <a:ea typeface="Gothic A1"/>
                <a:cs typeface="Gothic A1"/>
                <a:sym typeface="Gothic A1"/>
              </a:rPr>
              <a:t>Add graph</a:t>
            </a:r>
            <a:br>
              <a:rPr b="1" i="0" lang="en" sz="1100" u="none" cap="none" strike="noStrike">
                <a:solidFill>
                  <a:srgbClr val="999999"/>
                </a:solidFill>
                <a:latin typeface="Gothic A1"/>
                <a:ea typeface="Gothic A1"/>
                <a:cs typeface="Gothic A1"/>
                <a:sym typeface="Gothic A1"/>
              </a:rPr>
            </a:br>
            <a:r>
              <a:rPr b="1" i="0" lang="en" sz="1100" u="none" cap="none" strike="noStrike">
                <a:solidFill>
                  <a:srgbClr val="999999"/>
                </a:solidFill>
                <a:latin typeface="Gothic A1"/>
                <a:ea typeface="Gothic A1"/>
                <a:cs typeface="Gothic A1"/>
                <a:sym typeface="Gothic A1"/>
              </a:rPr>
              <a:t>or image</a:t>
            </a:r>
            <a:endParaRPr b="0" i="0" sz="1100" u="none" cap="none" strike="noStrike">
              <a:solidFill>
                <a:srgbClr val="999999"/>
              </a:solidFill>
              <a:latin typeface="Gothic A1"/>
              <a:ea typeface="Gothic A1"/>
              <a:cs typeface="Gothic A1"/>
              <a:sym typeface="Gothic A1"/>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3">
            <a:hlinkClick r:id="rId3"/>
          </p:cNvPr>
          <p:cNvSpPr txBox="1"/>
          <p:nvPr/>
        </p:nvSpPr>
        <p:spPr>
          <a:xfrm>
            <a:off x="372375" y="220575"/>
            <a:ext cx="8061000" cy="888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400"/>
              <a:buFont typeface="Arial"/>
              <a:buNone/>
            </a:pPr>
            <a:r>
              <a:rPr lang="en" sz="1800">
                <a:solidFill>
                  <a:srgbClr val="666666"/>
                </a:solidFill>
                <a:latin typeface="Helvetica Neue"/>
                <a:ea typeface="Helvetica Neue"/>
                <a:cs typeface="Helvetica Neue"/>
                <a:sym typeface="Helvetica Neue"/>
              </a:rPr>
              <a:t>While </a:t>
            </a:r>
            <a:r>
              <a:rPr b="0" i="0" lang="en" sz="1800" u="none" cap="none" strike="noStrike">
                <a:solidFill>
                  <a:srgbClr val="666666"/>
                </a:solidFill>
                <a:latin typeface="Helvetica Neue"/>
                <a:ea typeface="Helvetica Neue"/>
                <a:cs typeface="Helvetica Neue"/>
                <a:sym typeface="Helvetica Neue"/>
              </a:rPr>
              <a:t>Competit</a:t>
            </a:r>
            <a:r>
              <a:rPr lang="en" sz="1800">
                <a:solidFill>
                  <a:srgbClr val="666666"/>
                </a:solidFill>
                <a:latin typeface="Helvetica Neue"/>
                <a:ea typeface="Helvetica Neue"/>
                <a:cs typeface="Helvetica Neue"/>
                <a:sym typeface="Helvetica Neue"/>
              </a:rPr>
              <a:t>ors have Limited Focus, We Think Access, Scale, and Equity</a:t>
            </a:r>
            <a:endParaRPr sz="1800">
              <a:solidFill>
                <a:srgbClr val="666666"/>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3400"/>
              <a:buFont typeface="Arial"/>
              <a:buNone/>
            </a:pPr>
            <a:r>
              <a:rPr lang="en" sz="1800">
                <a:solidFill>
                  <a:srgbClr val="666666"/>
                </a:solidFill>
                <a:latin typeface="Helvetica Neue"/>
                <a:ea typeface="Helvetica Neue"/>
                <a:cs typeface="Helvetica Neue"/>
                <a:sym typeface="Helvetica Neue"/>
              </a:rPr>
              <a:t>OR</a:t>
            </a:r>
            <a:endParaRPr sz="1800">
              <a:solidFill>
                <a:srgbClr val="666666"/>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3400"/>
              <a:buFont typeface="Arial"/>
              <a:buNone/>
            </a:pPr>
            <a:r>
              <a:rPr lang="en" sz="1800">
                <a:solidFill>
                  <a:srgbClr val="666666"/>
                </a:solidFill>
                <a:latin typeface="Helvetica Neue"/>
                <a:ea typeface="Helvetica Neue"/>
                <a:cs typeface="Helvetica Neue"/>
                <a:sym typeface="Helvetica Neue"/>
              </a:rPr>
              <a:t>Standing out in a crowded EdTech &amp; </a:t>
            </a:r>
            <a:r>
              <a:rPr lang="en" sz="1800">
                <a:solidFill>
                  <a:srgbClr val="666666"/>
                </a:solidFill>
                <a:latin typeface="Helvetica Neue"/>
                <a:ea typeface="Helvetica Neue"/>
                <a:cs typeface="Helvetica Neue"/>
                <a:sym typeface="Helvetica Neue"/>
              </a:rPr>
              <a:t>AI</a:t>
            </a:r>
            <a:r>
              <a:rPr lang="en" sz="1800">
                <a:solidFill>
                  <a:srgbClr val="666666"/>
                </a:solidFill>
                <a:latin typeface="Helvetica Neue"/>
                <a:ea typeface="Helvetica Neue"/>
                <a:cs typeface="Helvetica Neue"/>
                <a:sym typeface="Helvetica Neue"/>
              </a:rPr>
              <a:t> landscape with a human touch</a:t>
            </a:r>
            <a:endParaRPr sz="1800">
              <a:solidFill>
                <a:srgbClr val="666666"/>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3400"/>
              <a:buFont typeface="Arial"/>
              <a:buNone/>
            </a:pPr>
            <a:r>
              <a:t/>
            </a:r>
            <a:endParaRPr sz="1800">
              <a:solidFill>
                <a:srgbClr val="666666"/>
              </a:solidFill>
              <a:latin typeface="Helvetica Neue"/>
              <a:ea typeface="Helvetica Neue"/>
              <a:cs typeface="Helvetica Neue"/>
              <a:sym typeface="Helvetica Neue"/>
            </a:endParaRPr>
          </a:p>
        </p:txBody>
      </p:sp>
      <p:sp>
        <p:nvSpPr>
          <p:cNvPr id="185" name="Google Shape;185;p13"/>
          <p:cNvSpPr txBox="1"/>
          <p:nvPr/>
        </p:nvSpPr>
        <p:spPr>
          <a:xfrm>
            <a:off x="488950" y="1261900"/>
            <a:ext cx="4985400" cy="3686100"/>
          </a:xfrm>
          <a:prstGeom prst="rect">
            <a:avLst/>
          </a:prstGeom>
          <a:noFill/>
          <a:ln>
            <a:noFill/>
          </a:ln>
        </p:spPr>
        <p:txBody>
          <a:bodyPr anchorCtr="0" anchor="t" bIns="0" lIns="0" spcFirstLastPara="1" rIns="0" wrap="square" tIns="0">
            <a:noAutofit/>
          </a:bodyPr>
          <a:lstStyle/>
          <a:p>
            <a:pPr indent="-311150" lvl="0" marL="457200" rtl="0" algn="l">
              <a:lnSpc>
                <a:spcPct val="115000"/>
              </a:lnSpc>
              <a:spcBef>
                <a:spcPts val="0"/>
              </a:spcBef>
              <a:spcAft>
                <a:spcPts val="0"/>
              </a:spcAft>
              <a:buClr>
                <a:schemeClr val="dk1"/>
              </a:buClr>
              <a:buSzPts val="1300"/>
              <a:buFont typeface="Helvetica Neue"/>
              <a:buChar char="●"/>
            </a:pPr>
            <a:r>
              <a:rPr lang="en" sz="1300" u="sng">
                <a:solidFill>
                  <a:schemeClr val="dk1"/>
                </a:solidFill>
                <a:latin typeface="Times New Roman"/>
                <a:ea typeface="Times New Roman"/>
                <a:cs typeface="Times New Roman"/>
                <a:sym typeface="Times New Roman"/>
                <a:hlinkClick r:id="rId4">
                  <a:extLst>
                    <a:ext uri="{A12FA001-AC4F-418D-AE19-62706E023703}">
                      <ahyp:hlinkClr val="tx"/>
                    </a:ext>
                  </a:extLst>
                </a:hlinkClick>
              </a:rPr>
              <a:t>Lumivero</a:t>
            </a:r>
            <a:r>
              <a:rPr lang="en" sz="1300">
                <a:solidFill>
                  <a:schemeClr val="dk1"/>
                </a:solidFill>
                <a:latin typeface="Helvetica Neue"/>
                <a:ea typeface="Helvetica Neue"/>
                <a:cs typeface="Helvetica Neue"/>
                <a:sym typeface="Helvetica Neue"/>
              </a:rPr>
              <a:t>: automating placement, evaluation and tracking activity logs. Specific for pre-service teacher supervision.</a:t>
            </a:r>
            <a:endParaRPr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Font typeface="Helvetica Neue"/>
              <a:buChar char="●"/>
            </a:pPr>
            <a:r>
              <a:rPr lang="en" sz="1300" u="sng">
                <a:solidFill>
                  <a:schemeClr val="dk1"/>
                </a:solidFill>
                <a:latin typeface="Times New Roman"/>
                <a:ea typeface="Times New Roman"/>
                <a:cs typeface="Times New Roman"/>
                <a:sym typeface="Times New Roman"/>
                <a:hlinkClick r:id="rId5">
                  <a:extLst>
                    <a:ext uri="{A12FA001-AC4F-418D-AE19-62706E023703}">
                      <ahyp:hlinkClr val="tx"/>
                    </a:ext>
                  </a:extLst>
                </a:hlinkClick>
              </a:rPr>
              <a:t>Tevera</a:t>
            </a:r>
            <a:r>
              <a:rPr lang="en" sz="1300">
                <a:solidFill>
                  <a:schemeClr val="dk1"/>
                </a:solidFill>
                <a:latin typeface="Helvetica Neue"/>
                <a:ea typeface="Helvetica Neue"/>
                <a:cs typeface="Helvetica Neue"/>
                <a:sym typeface="Helvetica Neue"/>
              </a:rPr>
              <a:t>: observation video assessment and program wide reporting. For in-service teachers</a:t>
            </a:r>
            <a:endParaRPr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Font typeface="Helvetica Neue"/>
              <a:buChar char="●"/>
            </a:pPr>
            <a:r>
              <a:rPr lang="en" sz="1300" u="sng">
                <a:solidFill>
                  <a:schemeClr val="dk1"/>
                </a:solidFill>
                <a:latin typeface="Times New Roman"/>
                <a:ea typeface="Times New Roman"/>
                <a:cs typeface="Times New Roman"/>
                <a:sym typeface="Times New Roman"/>
                <a:hlinkClick r:id="rId6">
                  <a:extLst>
                    <a:ext uri="{A12FA001-AC4F-418D-AE19-62706E023703}">
                      <ahyp:hlinkClr val="tx"/>
                    </a:ext>
                  </a:extLst>
                </a:hlinkClick>
              </a:rPr>
              <a:t>Schoolmint</a:t>
            </a:r>
            <a:r>
              <a:rPr lang="en" sz="1300">
                <a:solidFill>
                  <a:schemeClr val="dk1"/>
                </a:solidFill>
                <a:latin typeface="Helvetica Neue"/>
                <a:ea typeface="Helvetica Neue"/>
                <a:cs typeface="Helvetica Neue"/>
                <a:sym typeface="Helvetica Neue"/>
              </a:rPr>
              <a:t> is a complete school LMS, “Grow” helps in-service coaching , features include documenting observation notes and analyzing data from coaching.</a:t>
            </a:r>
            <a:endParaRPr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Font typeface="Helvetica Neue"/>
              <a:buChar char="●"/>
            </a:pPr>
            <a:r>
              <a:rPr lang="en" sz="1300" u="sng">
                <a:solidFill>
                  <a:schemeClr val="hlink"/>
                </a:solidFill>
                <a:latin typeface="Helvetica Neue"/>
                <a:ea typeface="Helvetica Neue"/>
                <a:cs typeface="Helvetica Neue"/>
                <a:sym typeface="Helvetica Neue"/>
                <a:hlinkClick r:id="rId7"/>
              </a:rPr>
              <a:t>EdThena</a:t>
            </a:r>
            <a:r>
              <a:rPr lang="en" sz="1300">
                <a:solidFill>
                  <a:schemeClr val="dk1"/>
                </a:solidFill>
                <a:latin typeface="Helvetica Neue"/>
                <a:ea typeface="Helvetica Neue"/>
                <a:cs typeface="Helvetica Neue"/>
                <a:sym typeface="Helvetica Neue"/>
              </a:rPr>
              <a:t>: AI-powered coaching platform for both pre-service and in-service teachers.</a:t>
            </a:r>
            <a:endParaRPr sz="13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lang="en" sz="1300">
                <a:solidFill>
                  <a:schemeClr val="dk1"/>
                </a:solidFill>
                <a:latin typeface="Helvetica Neue"/>
                <a:ea typeface="Helvetica Neue"/>
                <a:cs typeface="Helvetica Neue"/>
                <a:sym typeface="Helvetica Neue"/>
              </a:rPr>
              <a:t>RafiqAI is unique because:</a:t>
            </a:r>
            <a:endParaRPr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Font typeface="Helvetica Neue"/>
              <a:buChar char="●"/>
            </a:pPr>
            <a:r>
              <a:rPr lang="en" sz="1300">
                <a:solidFill>
                  <a:schemeClr val="dk1"/>
                </a:solidFill>
                <a:latin typeface="Helvetica Neue"/>
                <a:ea typeface="Helvetica Neue"/>
                <a:cs typeface="Helvetica Neue"/>
                <a:sym typeface="Helvetica Neue"/>
              </a:rPr>
              <a:t>It is an App not platform, this makes it easy and </a:t>
            </a:r>
            <a:r>
              <a:rPr lang="en" sz="1300">
                <a:solidFill>
                  <a:schemeClr val="dk1"/>
                </a:solidFill>
                <a:latin typeface="Helvetica Neue"/>
                <a:ea typeface="Helvetica Neue"/>
                <a:cs typeface="Helvetica Neue"/>
                <a:sym typeface="Helvetica Neue"/>
              </a:rPr>
              <a:t>accessible</a:t>
            </a:r>
            <a:r>
              <a:rPr lang="en" sz="1300">
                <a:solidFill>
                  <a:schemeClr val="dk1"/>
                </a:solidFill>
                <a:latin typeface="Helvetica Neue"/>
                <a:ea typeface="Helvetica Neue"/>
                <a:cs typeface="Helvetica Neue"/>
                <a:sym typeface="Helvetica Neue"/>
              </a:rPr>
              <a:t> for teachers in the school setting.</a:t>
            </a:r>
            <a:endParaRPr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Font typeface="Helvetica Neue"/>
              <a:buChar char="●"/>
            </a:pPr>
            <a:r>
              <a:rPr lang="en" sz="1300">
                <a:solidFill>
                  <a:schemeClr val="dk1"/>
                </a:solidFill>
                <a:latin typeface="Helvetica Neue"/>
                <a:ea typeface="Helvetica Neue"/>
                <a:cs typeface="Helvetica Neue"/>
                <a:sym typeface="Helvetica Neue"/>
              </a:rPr>
              <a:t>Can support both in-service and pre-service teachers</a:t>
            </a:r>
            <a:endParaRPr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Font typeface="Helvetica Neue"/>
              <a:buChar char="●"/>
            </a:pPr>
            <a:r>
              <a:rPr lang="en" sz="1300">
                <a:solidFill>
                  <a:schemeClr val="dk1"/>
                </a:solidFill>
                <a:latin typeface="Helvetica Neue"/>
                <a:ea typeface="Helvetica Neue"/>
                <a:cs typeface="Helvetica Neue"/>
                <a:sym typeface="Helvetica Neue"/>
              </a:rPr>
              <a:t>Offers AI-powered coaching in addition to human coaching which allows for </a:t>
            </a:r>
            <a:r>
              <a:rPr lang="en" sz="1300">
                <a:solidFill>
                  <a:schemeClr val="dk1"/>
                </a:solidFill>
                <a:latin typeface="Helvetica Neue"/>
                <a:ea typeface="Helvetica Neue"/>
                <a:cs typeface="Helvetica Neue"/>
                <a:sym typeface="Helvetica Neue"/>
              </a:rPr>
              <a:t>scalability</a:t>
            </a:r>
            <a:r>
              <a:rPr lang="en" sz="1300">
                <a:solidFill>
                  <a:schemeClr val="dk1"/>
                </a:solidFill>
                <a:latin typeface="Helvetica Neue"/>
                <a:ea typeface="Helvetica Neue"/>
                <a:cs typeface="Helvetica Neue"/>
                <a:sym typeface="Helvetica Neue"/>
              </a:rPr>
              <a:t> </a:t>
            </a:r>
            <a:endParaRPr sz="13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3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300">
              <a:solidFill>
                <a:schemeClr val="dk1"/>
              </a:solidFill>
              <a:latin typeface="Helvetica Neue"/>
              <a:ea typeface="Helvetica Neue"/>
              <a:cs typeface="Helvetica Neue"/>
              <a:sym typeface="Helvetica Neue"/>
            </a:endParaRPr>
          </a:p>
        </p:txBody>
      </p:sp>
      <p:sp>
        <p:nvSpPr>
          <p:cNvPr id="186" name="Google Shape;186;p13"/>
          <p:cNvSpPr/>
          <p:nvPr/>
        </p:nvSpPr>
        <p:spPr>
          <a:xfrm>
            <a:off x="5820550" y="1736825"/>
            <a:ext cx="2784000" cy="2539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3"/>
          <p:cNvSpPr txBox="1"/>
          <p:nvPr/>
        </p:nvSpPr>
        <p:spPr>
          <a:xfrm>
            <a:off x="6154575" y="2379450"/>
            <a:ext cx="740100" cy="384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1100"/>
              <a:buFont typeface="Arial"/>
              <a:buNone/>
            </a:pPr>
            <a:r>
              <a:rPr b="1" i="0" lang="en" sz="1100" u="none" cap="none" strike="noStrike">
                <a:solidFill>
                  <a:srgbClr val="999999"/>
                </a:solidFill>
                <a:latin typeface="Gothic A1"/>
                <a:ea typeface="Gothic A1"/>
                <a:cs typeface="Gothic A1"/>
                <a:sym typeface="Gothic A1"/>
              </a:rPr>
              <a:t>Add graph</a:t>
            </a:r>
            <a:br>
              <a:rPr b="1" i="0" lang="en" sz="1100" u="none" cap="none" strike="noStrike">
                <a:solidFill>
                  <a:srgbClr val="999999"/>
                </a:solidFill>
                <a:latin typeface="Gothic A1"/>
                <a:ea typeface="Gothic A1"/>
                <a:cs typeface="Gothic A1"/>
                <a:sym typeface="Gothic A1"/>
              </a:rPr>
            </a:br>
            <a:r>
              <a:rPr b="1" i="0" lang="en" sz="1100" u="none" cap="none" strike="noStrike">
                <a:solidFill>
                  <a:srgbClr val="999999"/>
                </a:solidFill>
                <a:latin typeface="Gothic A1"/>
                <a:ea typeface="Gothic A1"/>
                <a:cs typeface="Gothic A1"/>
                <a:sym typeface="Gothic A1"/>
              </a:rPr>
              <a:t>or image</a:t>
            </a:r>
            <a:endParaRPr b="0" i="0" sz="1100" u="none" cap="none" strike="noStrike">
              <a:solidFill>
                <a:srgbClr val="999999"/>
              </a:solidFill>
              <a:latin typeface="Gothic A1"/>
              <a:ea typeface="Gothic A1"/>
              <a:cs typeface="Gothic A1"/>
              <a:sym typeface="Gothic A1"/>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4">
            <a:hlinkClick r:id="rId4"/>
          </p:cNvPr>
          <p:cNvSpPr txBox="1"/>
          <p:nvPr/>
        </p:nvSpPr>
        <p:spPr>
          <a:xfrm>
            <a:off x="465750" y="476250"/>
            <a:ext cx="8212500" cy="49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400"/>
              <a:buFont typeface="Arial"/>
              <a:buNone/>
            </a:pPr>
            <a:r>
              <a:rPr lang="en" sz="1800">
                <a:solidFill>
                  <a:srgbClr val="666666"/>
                </a:solidFill>
                <a:latin typeface="Helvetica Neue"/>
                <a:ea typeface="Helvetica Neue"/>
                <a:cs typeface="Helvetica Neue"/>
                <a:sym typeface="Helvetica Neue"/>
              </a:rPr>
              <a:t>We’re seeking guidance to go to market, expand pilots, refine the product, and grow impact</a:t>
            </a:r>
            <a:endParaRPr b="0" i="0" sz="1800" u="none" cap="none" strike="noStrike">
              <a:solidFill>
                <a:srgbClr val="666666"/>
              </a:solidFill>
              <a:latin typeface="Helvetica Neue"/>
              <a:ea typeface="Helvetica Neue"/>
              <a:cs typeface="Helvetica Neue"/>
              <a:sym typeface="Helvetica Neue"/>
            </a:endParaRPr>
          </a:p>
        </p:txBody>
      </p:sp>
      <p:sp>
        <p:nvSpPr>
          <p:cNvPr id="193" name="Google Shape;193;p14"/>
          <p:cNvSpPr txBox="1"/>
          <p:nvPr/>
        </p:nvSpPr>
        <p:spPr>
          <a:xfrm>
            <a:off x="488950" y="1587725"/>
            <a:ext cx="4458900" cy="2021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100"/>
              <a:buFont typeface="Arial"/>
              <a:buNone/>
            </a:pPr>
            <a:r>
              <a:rPr lang="en" sz="1300">
                <a:solidFill>
                  <a:schemeClr val="dk1"/>
                </a:solidFill>
                <a:latin typeface="Helvetica Neue"/>
                <a:ea typeface="Helvetica Neue"/>
                <a:cs typeface="Helvetica Neue"/>
                <a:sym typeface="Helvetica Neue"/>
              </a:rPr>
              <a:t>We need support with our business model and financials</a:t>
            </a:r>
            <a:endParaRPr sz="1300">
              <a:solidFill>
                <a:schemeClr val="dk1"/>
              </a:solidFill>
              <a:latin typeface="Helvetica Neue"/>
              <a:ea typeface="Helvetica Neue"/>
              <a:cs typeface="Helvetica Neue"/>
              <a:sym typeface="Helvetica Neue"/>
            </a:endParaRPr>
          </a:p>
          <a:p>
            <a:pPr indent="-311150" lvl="0" marL="457200" rtl="0" algn="l">
              <a:spcBef>
                <a:spcPts val="0"/>
              </a:spcBef>
              <a:spcAft>
                <a:spcPts val="0"/>
              </a:spcAft>
              <a:buClr>
                <a:schemeClr val="dk1"/>
              </a:buClr>
              <a:buSzPts val="1300"/>
              <a:buChar char="●"/>
            </a:pPr>
            <a:r>
              <a:rPr lang="en" sz="1300">
                <a:solidFill>
                  <a:schemeClr val="dk1"/>
                </a:solidFill>
                <a:extLst>
                  <a:ext uri="http://customooxmlschemas.google.com/">
                    <go:slidesCustomData xmlns:go="http://customooxmlschemas.google.com/" textRoundtripDataId="4"/>
                  </a:ext>
                </a:extLst>
              </a:rPr>
              <a:t>First phase: RafiqA</a:t>
            </a:r>
            <a:r>
              <a:rPr lang="en" sz="1300">
                <a:solidFill>
                  <a:schemeClr val="dk1"/>
                </a:solidFill>
                <a:extLst>
                  <a:ext uri="http://customooxmlschemas.google.com/">
                    <go:slidesCustomData xmlns:go="http://customooxmlschemas.google.com/" textRoundtripDataId="5"/>
                  </a:ext>
                </a:extLst>
              </a:rPr>
              <a:t>I will l</a:t>
            </a:r>
            <a:r>
              <a:rPr lang="en" sz="1300">
                <a:solidFill>
                  <a:schemeClr val="dk1"/>
                </a:solidFill>
              </a:rPr>
              <a:t>aunch in North</a:t>
            </a:r>
            <a:r>
              <a:rPr lang="en" sz="1300">
                <a:solidFill>
                  <a:schemeClr val="dk1"/>
                </a:solidFill>
                <a:highlight>
                  <a:schemeClr val="lt1"/>
                </a:highlight>
              </a:rPr>
              <a:t> Africa and the Arab world.</a:t>
            </a:r>
            <a:endParaRPr sz="1300">
              <a:solidFill>
                <a:srgbClr val="999999"/>
              </a:solidFill>
              <a:highlight>
                <a:schemeClr val="lt1"/>
              </a:highlight>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Second Phase: RafiqAI will expand to North America and Canada</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Third Phase: RaffiqAI will expand globally</a:t>
            </a:r>
            <a:endParaRPr sz="1100">
              <a:solidFill>
                <a:srgbClr val="999999"/>
              </a:solidFill>
              <a:latin typeface="Helvetica Neue"/>
              <a:ea typeface="Helvetica Neue"/>
              <a:cs typeface="Helvetica Neue"/>
              <a:sym typeface="Helvetica Neue"/>
            </a:endParaRPr>
          </a:p>
        </p:txBody>
      </p:sp>
      <p:sp>
        <p:nvSpPr>
          <p:cNvPr id="194" name="Google Shape;194;p14"/>
          <p:cNvSpPr/>
          <p:nvPr/>
        </p:nvSpPr>
        <p:spPr>
          <a:xfrm>
            <a:off x="5780125" y="2124975"/>
            <a:ext cx="2723400" cy="23982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4"/>
          <p:cNvSpPr txBox="1"/>
          <p:nvPr/>
        </p:nvSpPr>
        <p:spPr>
          <a:xfrm>
            <a:off x="6154575" y="2379450"/>
            <a:ext cx="740100" cy="384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1100"/>
              <a:buFont typeface="Arial"/>
              <a:buNone/>
            </a:pPr>
            <a:r>
              <a:rPr b="1" i="0" lang="en" sz="1100" u="none" cap="none" strike="noStrike">
                <a:solidFill>
                  <a:srgbClr val="999999"/>
                </a:solidFill>
                <a:latin typeface="Gothic A1"/>
                <a:ea typeface="Gothic A1"/>
                <a:cs typeface="Gothic A1"/>
                <a:sym typeface="Gothic A1"/>
              </a:rPr>
              <a:t>Add graph</a:t>
            </a:r>
            <a:br>
              <a:rPr b="1" i="0" lang="en" sz="1100" u="none" cap="none" strike="noStrike">
                <a:solidFill>
                  <a:srgbClr val="999999"/>
                </a:solidFill>
                <a:latin typeface="Gothic A1"/>
                <a:ea typeface="Gothic A1"/>
                <a:cs typeface="Gothic A1"/>
                <a:sym typeface="Gothic A1"/>
              </a:rPr>
            </a:br>
            <a:r>
              <a:rPr b="1" i="0" lang="en" sz="1100" u="none" cap="none" strike="noStrike">
                <a:solidFill>
                  <a:srgbClr val="999999"/>
                </a:solidFill>
                <a:latin typeface="Gothic A1"/>
                <a:ea typeface="Gothic A1"/>
                <a:cs typeface="Gothic A1"/>
                <a:sym typeface="Gothic A1"/>
              </a:rPr>
              <a:t>or image</a:t>
            </a:r>
            <a:endParaRPr b="0" i="0" sz="1100" u="none" cap="none" strike="noStrike">
              <a:solidFill>
                <a:srgbClr val="999999"/>
              </a:solidFill>
              <a:latin typeface="Gothic A1"/>
              <a:ea typeface="Gothic A1"/>
              <a:cs typeface="Gothic A1"/>
              <a:sym typeface="Gothic A1"/>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